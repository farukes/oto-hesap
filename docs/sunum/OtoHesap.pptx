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Merhaba, biz OtoHesap ekibiyiz. KOBİ'ler için yapay zekâ destekli bir finans ve stok platformu geliştirdik. Sloganımız şu: verinizi anlayın, işinizi yönetin. Bugün size problemi, çözümü ve çalışan ürünü canlı göstereceğiz.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Türkiye'de 3,9 milyon KOBİ var; girişimlerin yüzde 99,6'sı, istihdamın yüzde 68,5'i, cironun yüzde 44,1'i. Bunların yüzde 35'i toptan ve perakende ticarette, yani stokla yaşıyor. Rakamlar TÜİK'in 2024 KOBİ istatistiklerinden. Bu kadar büyük bir tabanda işletme sahibi hâlâ Excel'de rapor kovalıyor ve stok bitince çoğu zaman geç fark ediyor.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Ürün dört yetenekten oluşuyor: Türkçe soru soran bir finans asistanı, görsel analitik, kritik stokta devreye giren otonom tedarik ajanı ve kurulum gerektirmeyen bir web arayüzü. Sağdaki ekran gerçek uygulamadan alındı: gelir, gider, fark ve kritik ürün sayısı her açılışta veriden hesaplanıyor. Veri sentetik demo verisi.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Akış şu: kullanıcı Türkçe soruyor, model yalnızca SQL yazıyor. O SQL sqlglot ile ayrıştırılıp tablo ve fonksiyon beyaz listesinden geçiyor, salt-okur bir veritabanı rolüyle çalışıyor, süre ve satır sınırı var. Rakam modelden değil veritabanından geliyor ve kullanılan sorgu ekranda görünüyor. İkinci akış: stok kritik seviyeye inince kural motoru sipariş taslağı hazırlıyor, ama gönderim insan onayından sonra. Kısacası AI'a veritabanının anahtarını vermiyoruz.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Slaytı 10 saniyede geç, canlıya gir. — Ekranlar burada duruyor ama asıl göstereceğimiz canlı ürün: bir soru soracağız, yanıtın altındaki SQL'i açacağız, sonra kritik stok için hazırlanan taslağı onaylayıp mesajın telefona düştüğünü göstereceğiz.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 tarafı Next.js, API FastAPI, veritabanı Neon üstünde PostgreSQL. Asistanın ürettiği SQL sqlglot ile denetleniyor, stok kontrolü APScheduler ile dönüyor, bildirim Telegram Bot API üzerinden gidiyor. GitHub Actions her PR'da çalışıyor ve şu an 185 test yeşil. Yöntem tarafında altını çizmek istediğimiz şu: AI kodu bizim yerimize yazmadı, bizi hızlandırdı; sınırları CI, eval seti ve dosya sahipliği koydu.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Dört kişiyiz ve işi dosya sahipliğiyle böldük. Kutay web arayüzünü, ben mimariyi, API'yi ve Text-to-SQL katmanını, Ömer tedarik ajanını, bildirimi ve demo akışını, Yiğit de veriyi, analitiği ve sunumu üstlendi. Çakışmayı böyle engelledik ve ürünü bir günde uçtan uca çıkardık.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Sırada ne var: Trendyol Product V2 ile salt-okur sipariş importu, e-belge entegratörü, lisanslı açık bankacılık bağlantısı, tenant_id ve RLS ile çok kiracılı SaaS, ardından Azure üstünde kurumsal referans mimari. Kapanış cümlemiz şu: karmaşıklık arkada, karar önünde. LLM sorguyu yazar, rakamı veritabanı verir, siparişi insan onaylar. Teşekkürler.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3C"/>
        </a:solidFill>
      </p:bgPr>
    </p:bg>
    <p:spTree>
      <p:nvGrpSpPr>
        <p:cNvPr id="1" name=""/>
        <p:cNvGrpSpPr/>
        <p:nvPr/>
      </p:nvGrpSpPr>
      <p:grpSpPr>
        <a:xfrm>
          <a:off x="0" y="0"/>
          <a:ext cx="0" cy="0"/>
          <a:chOff x="0" y="0"/>
          <a:chExt cx="0" cy="0"/>
        </a:xfrm>
      </p:grpSpPr>
      <p:sp>
        <p:nvSpPr>
          <p:cNvPr id="2" name="Shape 0"/>
          <p:cNvSpPr/>
          <p:nvPr/>
        </p:nvSpPr>
        <p:spPr>
          <a:xfrm>
            <a:off x="640080" y="960120"/>
            <a:ext cx="868680" cy="868680"/>
          </a:xfrm>
          <a:prstGeom prst="roundRect">
            <a:avLst>
              <a:gd name="adj" fmla="val 29474"/>
            </a:avLst>
          </a:prstGeom>
          <a:solidFill>
            <a:srgbClr val="1C8C6E"/>
          </a:solidFill>
          <a:ln/>
        </p:spPr>
      </p:sp>
      <p:pic>
        <p:nvPicPr>
          <p:cNvPr id="3" name="Image 0" descr="preencoded.png">    </p:cNvPr>
          <p:cNvPicPr>
            <a:picLocks noChangeAspect="1"/>
          </p:cNvPicPr>
          <p:nvPr/>
        </p:nvPicPr>
        <p:blipFill>
          <a:blip r:embed="rId1"/>
          <a:stretch>
            <a:fillRect/>
          </a:stretch>
        </p:blipFill>
        <p:spPr>
          <a:xfrm>
            <a:off x="854964" y="1175004"/>
            <a:ext cx="438912" cy="438912"/>
          </a:xfrm>
          <a:prstGeom prst="rect">
            <a:avLst/>
          </a:prstGeom>
        </p:spPr>
      </p:pic>
      <p:sp>
        <p:nvSpPr>
          <p:cNvPr id="4" name="Text 1"/>
          <p:cNvSpPr txBox="1"/>
          <p:nvPr/>
        </p:nvSpPr>
        <p:spPr>
          <a:xfrm>
            <a:off x="640080" y="2057400"/>
            <a:ext cx="9601200" cy="1051560"/>
          </a:xfrm>
          <a:prstGeom prst="rect">
            <a:avLst/>
          </a:prstGeom>
          <a:noFill/>
          <a:ln/>
        </p:spPr>
        <p:txBody>
          <a:bodyPr wrap="square" lIns="0" tIns="0" rIns="0" bIns="0" rtlCol="0" anchor="ctr"/>
          <a:lstStyle/>
          <a:p>
            <a:pPr indent="0" marL="0">
              <a:buNone/>
            </a:pPr>
            <a:r>
              <a:rPr lang="en-US" sz="6200" b="1" dirty="0">
                <a:solidFill>
                  <a:srgbClr val="FFFFFF"/>
                </a:solidFill>
                <a:latin typeface="Arial" pitchFamily="34" charset="0"/>
                <a:ea typeface="Arial" pitchFamily="34" charset="-122"/>
                <a:cs typeface="Arial" pitchFamily="34" charset="-120"/>
              </a:rPr>
              <a:t>OtoHesap</a:t>
            </a:r>
            <a:endParaRPr lang="en-US" sz="6200" dirty="0"/>
          </a:p>
        </p:txBody>
      </p:sp>
      <p:sp>
        <p:nvSpPr>
          <p:cNvPr id="5" name="Text 2"/>
          <p:cNvSpPr txBox="1"/>
          <p:nvPr/>
        </p:nvSpPr>
        <p:spPr>
          <a:xfrm>
            <a:off x="640080" y="3127248"/>
            <a:ext cx="9601200" cy="566928"/>
          </a:xfrm>
          <a:prstGeom prst="rect">
            <a:avLst/>
          </a:prstGeom>
          <a:noFill/>
          <a:ln/>
        </p:spPr>
        <p:txBody>
          <a:bodyPr wrap="square" lIns="0" tIns="0" rIns="0" bIns="0" rtlCol="0" anchor="ctr"/>
          <a:lstStyle/>
          <a:p>
            <a:pPr indent="0" marL="0">
              <a:buNone/>
            </a:pPr>
            <a:r>
              <a:rPr lang="en-US" sz="3000" dirty="0">
                <a:solidFill>
                  <a:srgbClr val="7FD9BC"/>
                </a:solidFill>
                <a:latin typeface="Arial" pitchFamily="34" charset="0"/>
                <a:ea typeface="Arial" pitchFamily="34" charset="-122"/>
                <a:cs typeface="Arial" pitchFamily="34" charset="-120"/>
              </a:rPr>
              <a:t>Verinizi anlayın. İşinizi yönetin.</a:t>
            </a:r>
            <a:endParaRPr lang="en-US" sz="3000" dirty="0"/>
          </a:p>
        </p:txBody>
      </p:sp>
      <p:sp>
        <p:nvSpPr>
          <p:cNvPr id="6" name="Text 3"/>
          <p:cNvSpPr txBox="1"/>
          <p:nvPr/>
        </p:nvSpPr>
        <p:spPr>
          <a:xfrm>
            <a:off x="640080" y="3730752"/>
            <a:ext cx="9601200" cy="411480"/>
          </a:xfrm>
          <a:prstGeom prst="rect">
            <a:avLst/>
          </a:prstGeom>
          <a:noFill/>
          <a:ln/>
        </p:spPr>
        <p:txBody>
          <a:bodyPr wrap="square" lIns="0" tIns="0" rIns="0" bIns="0" rtlCol="0" anchor="ctr"/>
          <a:lstStyle/>
          <a:p>
            <a:pPr indent="0" marL="0">
              <a:buNone/>
            </a:pPr>
            <a:r>
              <a:rPr lang="en-US" sz="1700" dirty="0">
                <a:solidFill>
                  <a:srgbClr val="C9DEE6"/>
                </a:solidFill>
                <a:latin typeface="Arial" pitchFamily="34" charset="0"/>
                <a:ea typeface="Arial" pitchFamily="34" charset="-122"/>
                <a:cs typeface="Arial" pitchFamily="34" charset="-120"/>
              </a:rPr>
              <a:t>KOBİ'ler için yapay zekâ destekli finans + stok</a:t>
            </a:r>
            <a:endParaRPr lang="en-US" sz="1700" dirty="0"/>
          </a:p>
        </p:txBody>
      </p:sp>
      <p:sp>
        <p:nvSpPr>
          <p:cNvPr id="7" name="Text 4"/>
          <p:cNvSpPr txBox="1"/>
          <p:nvPr/>
        </p:nvSpPr>
        <p:spPr>
          <a:xfrm>
            <a:off x="640080" y="5349240"/>
            <a:ext cx="10911535" cy="38404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Kutay Yıldırım   ·   Muratcan Ateş   ·   Yiğit Yuşa Kartal   ·   Ömer Faruk Eskitürk</a:t>
            </a:r>
            <a:endParaRPr lang="en-US" sz="1500" dirty="0"/>
          </a:p>
        </p:txBody>
      </p:sp>
      <p:sp>
        <p:nvSpPr>
          <p:cNvPr id="8" name="Text 5"/>
          <p:cNvSpPr txBox="1"/>
          <p:nvPr/>
        </p:nvSpPr>
        <p:spPr>
          <a:xfrm>
            <a:off x="640080" y="5742432"/>
            <a:ext cx="10911535" cy="347472"/>
          </a:xfrm>
          <a:prstGeom prst="rect">
            <a:avLst/>
          </a:prstGeom>
          <a:noFill/>
          <a:ln/>
        </p:spPr>
        <p:txBody>
          <a:bodyPr wrap="square" lIns="0" tIns="0" rIns="0" bIns="0" rtlCol="0" anchor="ctr"/>
          <a:lstStyle/>
          <a:p>
            <a:pPr indent="0" marL="0">
              <a:buNone/>
            </a:pPr>
            <a:r>
              <a:rPr lang="en-US" sz="1300" dirty="0">
                <a:solidFill>
                  <a:srgbClr val="C9DEE6"/>
                </a:solidFill>
                <a:latin typeface="Arial" pitchFamily="34" charset="0"/>
                <a:ea typeface="Arial" pitchFamily="34" charset="-122"/>
                <a:cs typeface="Arial" pitchFamily="34" charset="-120"/>
              </a:rPr>
              <a:t>Medeniyet Teknopark  ·  TeknoKampüs Arena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AF5F1"/>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685800"/>
          </a:xfrm>
          <a:prstGeom prst="rect">
            <a:avLst/>
          </a:prstGeom>
          <a:noFill/>
          <a:ln/>
        </p:spPr>
        <p:txBody>
          <a:bodyPr wrap="square" lIns="0" tIns="0" rIns="0" bIns="0" rtlCol="0" anchor="ctr"/>
          <a:lstStyle/>
          <a:p>
            <a:pPr indent="0" marL="0">
              <a:buNone/>
            </a:pPr>
            <a:r>
              <a:rPr lang="en-US" sz="3800" b="1" dirty="0">
                <a:solidFill>
                  <a:srgbClr val="12303F"/>
                </a:solidFill>
                <a:latin typeface="Arial" pitchFamily="34" charset="0"/>
                <a:ea typeface="Arial" pitchFamily="34" charset="-122"/>
                <a:cs typeface="Arial" pitchFamily="34" charset="-120"/>
              </a:rPr>
              <a:t>KOBİ: ekonominin taşıyıcı kolonu</a:t>
            </a:r>
            <a:endParaRPr lang="en-US" sz="3800" dirty="0"/>
          </a:p>
        </p:txBody>
      </p:sp>
      <p:sp>
        <p:nvSpPr>
          <p:cNvPr id="3" name="Shape 1"/>
          <p:cNvSpPr/>
          <p:nvPr/>
        </p:nvSpPr>
        <p:spPr>
          <a:xfrm>
            <a:off x="640080" y="1371600"/>
            <a:ext cx="3657600" cy="3200400"/>
          </a:xfrm>
          <a:prstGeom prst="roundRect">
            <a:avLst>
              <a:gd name="adj" fmla="val 2857"/>
            </a:avLst>
          </a:prstGeom>
          <a:solidFill>
            <a:srgbClr val="FFFFFF"/>
          </a:solidFill>
          <a:ln w="12700">
            <a:solidFill>
              <a:srgbClr val="D3E4DD"/>
            </a:solidFill>
            <a:prstDash val="solid"/>
          </a:ln>
          <a:effectLst>
            <a:outerShdw sx="100000" sy="100000" kx="0" ky="0" algn="bl" rotWithShape="0" blurRad="127000" dist="25400" dir="5400000">
              <a:srgbClr val="0F2A3C">
                <a:alpha val="10000"/>
              </a:srgbClr>
            </a:outerShdw>
          </a:effectLst>
        </p:spPr>
      </p:sp>
      <p:sp>
        <p:nvSpPr>
          <p:cNvPr id="4" name="Text 2"/>
          <p:cNvSpPr txBox="1"/>
          <p:nvPr/>
        </p:nvSpPr>
        <p:spPr>
          <a:xfrm>
            <a:off x="960120" y="1901952"/>
            <a:ext cx="3017520" cy="1371600"/>
          </a:xfrm>
          <a:prstGeom prst="rect">
            <a:avLst/>
          </a:prstGeom>
          <a:noFill/>
          <a:ln/>
        </p:spPr>
        <p:txBody>
          <a:bodyPr wrap="square" lIns="0" tIns="0" rIns="0" bIns="0" rtlCol="0" anchor="ctr"/>
          <a:lstStyle/>
          <a:p>
            <a:pPr algn="l" indent="0" marL="0">
              <a:buNone/>
            </a:pPr>
            <a:r>
              <a:rPr lang="en-US" sz="8800" b="1" dirty="0">
                <a:solidFill>
                  <a:srgbClr val="1C8C6E"/>
                </a:solidFill>
                <a:latin typeface="Arial" pitchFamily="34" charset="0"/>
                <a:ea typeface="Arial" pitchFamily="34" charset="-122"/>
                <a:cs typeface="Arial" pitchFamily="34" charset="-120"/>
              </a:rPr>
              <a:t>3,928</a:t>
            </a:r>
            <a:endParaRPr lang="en-US" sz="8800" dirty="0"/>
          </a:p>
        </p:txBody>
      </p:sp>
      <p:sp>
        <p:nvSpPr>
          <p:cNvPr id="5" name="Text 3"/>
          <p:cNvSpPr txBox="1"/>
          <p:nvPr/>
        </p:nvSpPr>
        <p:spPr>
          <a:xfrm>
            <a:off x="960120" y="3246120"/>
            <a:ext cx="3017520" cy="457200"/>
          </a:xfrm>
          <a:prstGeom prst="rect">
            <a:avLst/>
          </a:prstGeom>
          <a:noFill/>
          <a:ln/>
        </p:spPr>
        <p:txBody>
          <a:bodyPr wrap="square" lIns="0" tIns="0" rIns="0" bIns="0" rtlCol="0" anchor="ctr"/>
          <a:lstStyle/>
          <a:p>
            <a:pPr indent="0" marL="0">
              <a:buNone/>
            </a:pPr>
            <a:r>
              <a:rPr lang="en-US" sz="2400" b="1" dirty="0">
                <a:solidFill>
                  <a:srgbClr val="12303F"/>
                </a:solidFill>
                <a:latin typeface="Arial" pitchFamily="34" charset="0"/>
                <a:ea typeface="Arial" pitchFamily="34" charset="-122"/>
                <a:cs typeface="Arial" pitchFamily="34" charset="-120"/>
              </a:rPr>
              <a:t>milyon KOBİ</a:t>
            </a:r>
            <a:endParaRPr lang="en-US" sz="2400" dirty="0"/>
          </a:p>
        </p:txBody>
      </p:sp>
      <p:sp>
        <p:nvSpPr>
          <p:cNvPr id="6" name="Text 4"/>
          <p:cNvSpPr txBox="1"/>
          <p:nvPr/>
        </p:nvSpPr>
        <p:spPr>
          <a:xfrm>
            <a:off x="960120" y="3721608"/>
            <a:ext cx="3017520" cy="365760"/>
          </a:xfrm>
          <a:prstGeom prst="rect">
            <a:avLst/>
          </a:prstGeom>
          <a:noFill/>
          <a:ln/>
        </p:spPr>
        <p:txBody>
          <a:bodyPr wrap="square" lIns="0" tIns="0" rIns="0" bIns="0" rtlCol="0" anchor="ctr"/>
          <a:lstStyle/>
          <a:p>
            <a:pPr indent="0" marL="0">
              <a:buNone/>
            </a:pPr>
            <a:r>
              <a:rPr lang="en-US" sz="1400" dirty="0">
                <a:solidFill>
                  <a:srgbClr val="3C5563"/>
                </a:solidFill>
                <a:latin typeface="Arial" pitchFamily="34" charset="0"/>
                <a:ea typeface="Arial" pitchFamily="34" charset="-122"/>
                <a:cs typeface="Arial" pitchFamily="34" charset="-120"/>
              </a:rPr>
              <a:t>Türkiye · 2024</a:t>
            </a:r>
            <a:endParaRPr lang="en-US" sz="1400" dirty="0"/>
          </a:p>
        </p:txBody>
      </p:sp>
      <p:sp>
        <p:nvSpPr>
          <p:cNvPr id="7" name="Shape 5"/>
          <p:cNvSpPr/>
          <p:nvPr/>
        </p:nvSpPr>
        <p:spPr>
          <a:xfrm>
            <a:off x="4590288" y="1371600"/>
            <a:ext cx="3352648" cy="1472184"/>
          </a:xfrm>
          <a:prstGeom prst="roundRect">
            <a:avLst>
              <a:gd name="adj" fmla="val 6211"/>
            </a:avLst>
          </a:prstGeom>
          <a:solidFill>
            <a:srgbClr val="FFFFFF"/>
          </a:solidFill>
          <a:ln w="12700">
            <a:solidFill>
              <a:srgbClr val="D3E4DD"/>
            </a:solidFill>
            <a:prstDash val="solid"/>
          </a:ln>
          <a:effectLst>
            <a:outerShdw sx="100000" sy="100000" kx="0" ky="0" algn="bl" rotWithShape="0" blurRad="127000" dist="25400" dir="5400000">
              <a:srgbClr val="0F2A3C">
                <a:alpha val="10000"/>
              </a:srgbClr>
            </a:outerShdw>
          </a:effectLst>
        </p:spPr>
      </p:sp>
      <p:sp>
        <p:nvSpPr>
          <p:cNvPr id="8" name="Text 6"/>
          <p:cNvSpPr txBox="1"/>
          <p:nvPr/>
        </p:nvSpPr>
        <p:spPr>
          <a:xfrm>
            <a:off x="4864608" y="1572768"/>
            <a:ext cx="2804008" cy="713232"/>
          </a:xfrm>
          <a:prstGeom prst="rect">
            <a:avLst/>
          </a:prstGeom>
          <a:noFill/>
          <a:ln/>
        </p:spPr>
        <p:txBody>
          <a:bodyPr wrap="square" lIns="0" tIns="0" rIns="0" bIns="0" rtlCol="0" anchor="ctr"/>
          <a:lstStyle/>
          <a:p>
            <a:pPr indent="0" marL="0">
              <a:buNone/>
            </a:pPr>
            <a:r>
              <a:rPr lang="en-US" sz="4400" b="1" dirty="0">
                <a:solidFill>
                  <a:srgbClr val="12303F"/>
                </a:solidFill>
                <a:latin typeface="Arial" pitchFamily="34" charset="0"/>
                <a:ea typeface="Arial" pitchFamily="34" charset="-122"/>
                <a:cs typeface="Arial" pitchFamily="34" charset="-120"/>
              </a:rPr>
              <a:t>%68,5</a:t>
            </a:r>
            <a:endParaRPr lang="en-US" sz="4400" dirty="0"/>
          </a:p>
        </p:txBody>
      </p:sp>
      <p:sp>
        <p:nvSpPr>
          <p:cNvPr id="9" name="Text 7"/>
          <p:cNvSpPr txBox="1"/>
          <p:nvPr/>
        </p:nvSpPr>
        <p:spPr>
          <a:xfrm>
            <a:off x="4864608" y="2286000"/>
            <a:ext cx="2804008" cy="411480"/>
          </a:xfrm>
          <a:prstGeom prst="rect">
            <a:avLst/>
          </a:prstGeom>
          <a:noFill/>
          <a:ln/>
        </p:spPr>
        <p:txBody>
          <a:bodyPr wrap="square" lIns="0" tIns="0" rIns="0" bIns="0" rtlCol="0" anchor="ctr"/>
          <a:lstStyle/>
          <a:p>
            <a:pPr indent="0" marL="0">
              <a:buNone/>
            </a:pPr>
            <a:r>
              <a:rPr lang="en-US" sz="1400" dirty="0">
                <a:solidFill>
                  <a:srgbClr val="3C5563"/>
                </a:solidFill>
                <a:latin typeface="Arial" pitchFamily="34" charset="0"/>
                <a:ea typeface="Arial" pitchFamily="34" charset="-122"/>
                <a:cs typeface="Arial" pitchFamily="34" charset="-120"/>
              </a:rPr>
              <a:t>istihdamın payı</a:t>
            </a:r>
            <a:endParaRPr lang="en-US" sz="1400" dirty="0"/>
          </a:p>
        </p:txBody>
      </p:sp>
      <p:sp>
        <p:nvSpPr>
          <p:cNvPr id="10" name="Shape 8"/>
          <p:cNvSpPr/>
          <p:nvPr/>
        </p:nvSpPr>
        <p:spPr>
          <a:xfrm>
            <a:off x="8198968" y="1371600"/>
            <a:ext cx="3352648" cy="1472184"/>
          </a:xfrm>
          <a:prstGeom prst="roundRect">
            <a:avLst>
              <a:gd name="adj" fmla="val 6211"/>
            </a:avLst>
          </a:prstGeom>
          <a:solidFill>
            <a:srgbClr val="FFFFFF"/>
          </a:solidFill>
          <a:ln w="12700">
            <a:solidFill>
              <a:srgbClr val="D3E4DD"/>
            </a:solidFill>
            <a:prstDash val="solid"/>
          </a:ln>
          <a:effectLst>
            <a:outerShdw sx="100000" sy="100000" kx="0" ky="0" algn="bl" rotWithShape="0" blurRad="127000" dist="25400" dir="5400000">
              <a:srgbClr val="0F2A3C">
                <a:alpha val="10000"/>
              </a:srgbClr>
            </a:outerShdw>
          </a:effectLst>
        </p:spPr>
      </p:sp>
      <p:sp>
        <p:nvSpPr>
          <p:cNvPr id="11" name="Text 9"/>
          <p:cNvSpPr txBox="1"/>
          <p:nvPr/>
        </p:nvSpPr>
        <p:spPr>
          <a:xfrm>
            <a:off x="8473288" y="1572768"/>
            <a:ext cx="2804008" cy="713232"/>
          </a:xfrm>
          <a:prstGeom prst="rect">
            <a:avLst/>
          </a:prstGeom>
          <a:noFill/>
          <a:ln/>
        </p:spPr>
        <p:txBody>
          <a:bodyPr wrap="square" lIns="0" tIns="0" rIns="0" bIns="0" rtlCol="0" anchor="ctr"/>
          <a:lstStyle/>
          <a:p>
            <a:pPr indent="0" marL="0">
              <a:buNone/>
            </a:pPr>
            <a:r>
              <a:rPr lang="en-US" sz="4400" b="1" dirty="0">
                <a:solidFill>
                  <a:srgbClr val="12303F"/>
                </a:solidFill>
                <a:latin typeface="Arial" pitchFamily="34" charset="0"/>
                <a:ea typeface="Arial" pitchFamily="34" charset="-122"/>
                <a:cs typeface="Arial" pitchFamily="34" charset="-120"/>
              </a:rPr>
              <a:t>%44,1</a:t>
            </a:r>
            <a:endParaRPr lang="en-US" sz="4400" dirty="0"/>
          </a:p>
        </p:txBody>
      </p:sp>
      <p:sp>
        <p:nvSpPr>
          <p:cNvPr id="12" name="Text 10"/>
          <p:cNvSpPr txBox="1"/>
          <p:nvPr/>
        </p:nvSpPr>
        <p:spPr>
          <a:xfrm>
            <a:off x="8473288" y="2286000"/>
            <a:ext cx="2804008" cy="411480"/>
          </a:xfrm>
          <a:prstGeom prst="rect">
            <a:avLst/>
          </a:prstGeom>
          <a:noFill/>
          <a:ln/>
        </p:spPr>
        <p:txBody>
          <a:bodyPr wrap="square" lIns="0" tIns="0" rIns="0" bIns="0" rtlCol="0" anchor="ctr"/>
          <a:lstStyle/>
          <a:p>
            <a:pPr indent="0" marL="0">
              <a:buNone/>
            </a:pPr>
            <a:r>
              <a:rPr lang="en-US" sz="1400" dirty="0">
                <a:solidFill>
                  <a:srgbClr val="3C5563"/>
                </a:solidFill>
                <a:latin typeface="Arial" pitchFamily="34" charset="0"/>
                <a:ea typeface="Arial" pitchFamily="34" charset="-122"/>
                <a:cs typeface="Arial" pitchFamily="34" charset="-120"/>
              </a:rPr>
              <a:t>cironun payı</a:t>
            </a:r>
            <a:endParaRPr lang="en-US" sz="1400" dirty="0"/>
          </a:p>
        </p:txBody>
      </p:sp>
      <p:sp>
        <p:nvSpPr>
          <p:cNvPr id="13" name="Shape 11"/>
          <p:cNvSpPr/>
          <p:nvPr/>
        </p:nvSpPr>
        <p:spPr>
          <a:xfrm>
            <a:off x="4590288" y="3099816"/>
            <a:ext cx="3352648" cy="1472184"/>
          </a:xfrm>
          <a:prstGeom prst="roundRect">
            <a:avLst>
              <a:gd name="adj" fmla="val 6211"/>
            </a:avLst>
          </a:prstGeom>
          <a:solidFill>
            <a:srgbClr val="FFFFFF"/>
          </a:solidFill>
          <a:ln w="12700">
            <a:solidFill>
              <a:srgbClr val="D3E4DD"/>
            </a:solidFill>
            <a:prstDash val="solid"/>
          </a:ln>
          <a:effectLst>
            <a:outerShdw sx="100000" sy="100000" kx="0" ky="0" algn="bl" rotWithShape="0" blurRad="127000" dist="25400" dir="5400000">
              <a:srgbClr val="0F2A3C">
                <a:alpha val="10000"/>
              </a:srgbClr>
            </a:outerShdw>
          </a:effectLst>
        </p:spPr>
      </p:sp>
      <p:sp>
        <p:nvSpPr>
          <p:cNvPr id="14" name="Text 12"/>
          <p:cNvSpPr txBox="1"/>
          <p:nvPr/>
        </p:nvSpPr>
        <p:spPr>
          <a:xfrm>
            <a:off x="4864608" y="3300984"/>
            <a:ext cx="2804008" cy="713232"/>
          </a:xfrm>
          <a:prstGeom prst="rect">
            <a:avLst/>
          </a:prstGeom>
          <a:noFill/>
          <a:ln/>
        </p:spPr>
        <p:txBody>
          <a:bodyPr wrap="square" lIns="0" tIns="0" rIns="0" bIns="0" rtlCol="0" anchor="ctr"/>
          <a:lstStyle/>
          <a:p>
            <a:pPr indent="0" marL="0">
              <a:buNone/>
            </a:pPr>
            <a:r>
              <a:rPr lang="en-US" sz="4400" b="1" dirty="0">
                <a:solidFill>
                  <a:srgbClr val="12303F"/>
                </a:solidFill>
                <a:latin typeface="Arial" pitchFamily="34" charset="0"/>
                <a:ea typeface="Arial" pitchFamily="34" charset="-122"/>
                <a:cs typeface="Arial" pitchFamily="34" charset="-120"/>
              </a:rPr>
              <a:t>%99,6</a:t>
            </a:r>
            <a:endParaRPr lang="en-US" sz="4400" dirty="0"/>
          </a:p>
        </p:txBody>
      </p:sp>
      <p:sp>
        <p:nvSpPr>
          <p:cNvPr id="15" name="Text 13"/>
          <p:cNvSpPr txBox="1"/>
          <p:nvPr/>
        </p:nvSpPr>
        <p:spPr>
          <a:xfrm>
            <a:off x="4864608" y="4014216"/>
            <a:ext cx="2804008" cy="411480"/>
          </a:xfrm>
          <a:prstGeom prst="rect">
            <a:avLst/>
          </a:prstGeom>
          <a:noFill/>
          <a:ln/>
        </p:spPr>
        <p:txBody>
          <a:bodyPr wrap="square" lIns="0" tIns="0" rIns="0" bIns="0" rtlCol="0" anchor="ctr"/>
          <a:lstStyle/>
          <a:p>
            <a:pPr indent="0" marL="0">
              <a:buNone/>
            </a:pPr>
            <a:r>
              <a:rPr lang="en-US" sz="1400" dirty="0">
                <a:solidFill>
                  <a:srgbClr val="3C5563"/>
                </a:solidFill>
                <a:latin typeface="Arial" pitchFamily="34" charset="0"/>
                <a:ea typeface="Arial" pitchFamily="34" charset="-122"/>
                <a:cs typeface="Arial" pitchFamily="34" charset="-120"/>
              </a:rPr>
              <a:t>girişimlerin payı</a:t>
            </a:r>
            <a:endParaRPr lang="en-US" sz="1400" dirty="0"/>
          </a:p>
        </p:txBody>
      </p:sp>
      <p:sp>
        <p:nvSpPr>
          <p:cNvPr id="16" name="Shape 14"/>
          <p:cNvSpPr/>
          <p:nvPr/>
        </p:nvSpPr>
        <p:spPr>
          <a:xfrm>
            <a:off x="8198968" y="3099816"/>
            <a:ext cx="3352648" cy="1472184"/>
          </a:xfrm>
          <a:prstGeom prst="roundRect">
            <a:avLst>
              <a:gd name="adj" fmla="val 6211"/>
            </a:avLst>
          </a:prstGeom>
          <a:solidFill>
            <a:srgbClr val="FFFFFF"/>
          </a:solidFill>
          <a:ln w="12700">
            <a:solidFill>
              <a:srgbClr val="D3E4DD"/>
            </a:solidFill>
            <a:prstDash val="solid"/>
          </a:ln>
          <a:effectLst>
            <a:outerShdw sx="100000" sy="100000" kx="0" ky="0" algn="bl" rotWithShape="0" blurRad="127000" dist="25400" dir="5400000">
              <a:srgbClr val="0F2A3C">
                <a:alpha val="10000"/>
              </a:srgbClr>
            </a:outerShdw>
          </a:effectLst>
        </p:spPr>
      </p:sp>
      <p:sp>
        <p:nvSpPr>
          <p:cNvPr id="17" name="Text 15"/>
          <p:cNvSpPr txBox="1"/>
          <p:nvPr/>
        </p:nvSpPr>
        <p:spPr>
          <a:xfrm>
            <a:off x="8473288" y="3300984"/>
            <a:ext cx="2804008" cy="713232"/>
          </a:xfrm>
          <a:prstGeom prst="rect">
            <a:avLst/>
          </a:prstGeom>
          <a:noFill/>
          <a:ln/>
        </p:spPr>
        <p:txBody>
          <a:bodyPr wrap="square" lIns="0" tIns="0" rIns="0" bIns="0" rtlCol="0" anchor="ctr"/>
          <a:lstStyle/>
          <a:p>
            <a:pPr indent="0" marL="0">
              <a:buNone/>
            </a:pPr>
            <a:r>
              <a:rPr lang="en-US" sz="4400" b="1" dirty="0">
                <a:solidFill>
                  <a:srgbClr val="12303F"/>
                </a:solidFill>
                <a:latin typeface="Arial" pitchFamily="34" charset="0"/>
                <a:ea typeface="Arial" pitchFamily="34" charset="-122"/>
                <a:cs typeface="Arial" pitchFamily="34" charset="-120"/>
              </a:rPr>
              <a:t>%35,1</a:t>
            </a:r>
            <a:endParaRPr lang="en-US" sz="4400" dirty="0"/>
          </a:p>
        </p:txBody>
      </p:sp>
      <p:sp>
        <p:nvSpPr>
          <p:cNvPr id="18" name="Text 16"/>
          <p:cNvSpPr txBox="1"/>
          <p:nvPr/>
        </p:nvSpPr>
        <p:spPr>
          <a:xfrm>
            <a:off x="8473288" y="4014216"/>
            <a:ext cx="2804008" cy="411480"/>
          </a:xfrm>
          <a:prstGeom prst="rect">
            <a:avLst/>
          </a:prstGeom>
          <a:noFill/>
          <a:ln/>
        </p:spPr>
        <p:txBody>
          <a:bodyPr wrap="square" lIns="0" tIns="0" rIns="0" bIns="0" rtlCol="0" anchor="ctr"/>
          <a:lstStyle/>
          <a:p>
            <a:pPr indent="0" marL="0">
              <a:buNone/>
            </a:pPr>
            <a:r>
              <a:rPr lang="en-US" sz="1400" dirty="0">
                <a:solidFill>
                  <a:srgbClr val="3C5563"/>
                </a:solidFill>
                <a:latin typeface="Arial" pitchFamily="34" charset="0"/>
                <a:ea typeface="Arial" pitchFamily="34" charset="-122"/>
                <a:cs typeface="Arial" pitchFamily="34" charset="-120"/>
              </a:rPr>
              <a:t>toptan ve perakende ticarette</a:t>
            </a:r>
            <a:endParaRPr lang="en-US" sz="1400" dirty="0"/>
          </a:p>
        </p:txBody>
      </p:sp>
      <p:sp>
        <p:nvSpPr>
          <p:cNvPr id="19" name="Text 17"/>
          <p:cNvSpPr txBox="1"/>
          <p:nvPr/>
        </p:nvSpPr>
        <p:spPr>
          <a:xfrm>
            <a:off x="640080" y="4892040"/>
            <a:ext cx="10911535" cy="548640"/>
          </a:xfrm>
          <a:prstGeom prst="rect">
            <a:avLst/>
          </a:prstGeom>
          <a:noFill/>
          <a:ln/>
        </p:spPr>
        <p:txBody>
          <a:bodyPr wrap="square" lIns="0" tIns="0" rIns="0" bIns="0" rtlCol="0" anchor="ctr"/>
          <a:lstStyle/>
          <a:p>
            <a:pPr indent="0" marL="0">
              <a:buNone/>
            </a:pPr>
            <a:r>
              <a:rPr lang="en-US" sz="2400" b="1" dirty="0">
                <a:solidFill>
                  <a:srgbClr val="12303F"/>
                </a:solidFill>
                <a:latin typeface="Arial" pitchFamily="34" charset="0"/>
                <a:ea typeface="Arial" pitchFamily="34" charset="-122"/>
                <a:cs typeface="Arial" pitchFamily="34" charset="-120"/>
              </a:rPr>
              <a:t>Excel ile rapor kovalayan işletme, stok bitince geç fark ediyor.</a:t>
            </a:r>
            <a:endParaRPr lang="en-US" sz="2400" dirty="0"/>
          </a:p>
        </p:txBody>
      </p:sp>
      <p:sp>
        <p:nvSpPr>
          <p:cNvPr id="20" name="Text 18"/>
          <p:cNvSpPr txBox="1"/>
          <p:nvPr/>
        </p:nvSpPr>
        <p:spPr>
          <a:xfrm>
            <a:off x="640080" y="5897880"/>
            <a:ext cx="10911535" cy="320040"/>
          </a:xfrm>
          <a:prstGeom prst="rect">
            <a:avLst/>
          </a:prstGeom>
          <a:noFill/>
          <a:ln/>
        </p:spPr>
        <p:txBody>
          <a:bodyPr wrap="square" lIns="0" tIns="0" rIns="0" bIns="0" rtlCol="0" anchor="ctr"/>
          <a:lstStyle/>
          <a:p>
            <a:pPr indent="0" marL="0">
              <a:buNone/>
            </a:pPr>
            <a:r>
              <a:rPr lang="en-US" sz="1100" dirty="0">
                <a:solidFill>
                  <a:srgbClr val="3C5563"/>
                </a:solidFill>
                <a:latin typeface="Arial" pitchFamily="34" charset="0"/>
                <a:ea typeface="Arial" pitchFamily="34" charset="-122"/>
                <a:cs typeface="Arial" pitchFamily="34" charset="-120"/>
              </a:rPr>
              <a:t>Kaynak: TÜİK, Küçük ve Orta Büyüklükteki Girişim İstatistikleri, 2024</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685800"/>
          </a:xfrm>
          <a:prstGeom prst="rect">
            <a:avLst/>
          </a:prstGeom>
          <a:noFill/>
          <a:ln/>
        </p:spPr>
        <p:txBody>
          <a:bodyPr wrap="square" lIns="0" tIns="0" rIns="0" bIns="0" rtlCol="0" anchor="ctr"/>
          <a:lstStyle/>
          <a:p>
            <a:pPr indent="0" marL="0">
              <a:buNone/>
            </a:pPr>
            <a:r>
              <a:rPr lang="en-US" sz="3800" b="1" dirty="0">
                <a:solidFill>
                  <a:srgbClr val="12303F"/>
                </a:solidFill>
                <a:latin typeface="Arial" pitchFamily="34" charset="0"/>
                <a:ea typeface="Arial" pitchFamily="34" charset="-122"/>
                <a:cs typeface="Arial" pitchFamily="34" charset="-120"/>
              </a:rPr>
              <a:t>Dört yetenek, tek ekran</a:t>
            </a:r>
            <a:endParaRPr lang="en-US" sz="3800" dirty="0"/>
          </a:p>
        </p:txBody>
      </p:sp>
      <p:sp>
        <p:nvSpPr>
          <p:cNvPr id="3" name="Shape 1"/>
          <p:cNvSpPr/>
          <p:nvPr/>
        </p:nvSpPr>
        <p:spPr>
          <a:xfrm>
            <a:off x="640080" y="1527048"/>
            <a:ext cx="512064" cy="512064"/>
          </a:xfrm>
          <a:prstGeom prst="ellipse">
            <a:avLst/>
          </a:prstGeom>
          <a:solidFill>
            <a:srgbClr val="1C8C6E"/>
          </a:solidFill>
          <a:ln/>
        </p:spPr>
      </p:sp>
      <p:pic>
        <p:nvPicPr>
          <p:cNvPr id="4" name="Image 0" descr="preencoded.png">    </p:cNvPr>
          <p:cNvPicPr>
            <a:picLocks noChangeAspect="1"/>
          </p:cNvPicPr>
          <p:nvPr/>
        </p:nvPicPr>
        <p:blipFill>
          <a:blip r:embed="rId1"/>
          <a:stretch>
            <a:fillRect/>
          </a:stretch>
        </p:blipFill>
        <p:spPr>
          <a:xfrm>
            <a:off x="781812" y="1668780"/>
            <a:ext cx="228600" cy="228600"/>
          </a:xfrm>
          <a:prstGeom prst="rect">
            <a:avLst/>
          </a:prstGeom>
        </p:spPr>
      </p:pic>
      <p:sp>
        <p:nvSpPr>
          <p:cNvPr id="5" name="Text 2"/>
          <p:cNvSpPr txBox="1"/>
          <p:nvPr/>
        </p:nvSpPr>
        <p:spPr>
          <a:xfrm>
            <a:off x="1353312" y="1481328"/>
            <a:ext cx="4114800" cy="329184"/>
          </a:xfrm>
          <a:prstGeom prst="rect">
            <a:avLst/>
          </a:prstGeom>
          <a:noFill/>
          <a:ln/>
        </p:spPr>
        <p:txBody>
          <a:bodyPr wrap="square" lIns="0" tIns="0" rIns="0" bIns="0" rtlCol="0" anchor="ctr"/>
          <a:lstStyle/>
          <a:p>
            <a:pPr indent="0" marL="0">
              <a:buNone/>
            </a:pPr>
            <a:r>
              <a:rPr lang="en-US" sz="1600" b="1" dirty="0">
                <a:solidFill>
                  <a:srgbClr val="12303F"/>
                </a:solidFill>
                <a:latin typeface="Arial" pitchFamily="34" charset="0"/>
                <a:ea typeface="Arial" pitchFamily="34" charset="-122"/>
                <a:cs typeface="Arial" pitchFamily="34" charset="-120"/>
              </a:rPr>
              <a:t>Akıllı finans asistanı</a:t>
            </a:r>
            <a:endParaRPr lang="en-US" sz="1600" dirty="0"/>
          </a:p>
        </p:txBody>
      </p:sp>
      <p:sp>
        <p:nvSpPr>
          <p:cNvPr id="6" name="Text 3"/>
          <p:cNvSpPr txBox="1"/>
          <p:nvPr/>
        </p:nvSpPr>
        <p:spPr>
          <a:xfrm>
            <a:off x="1353312" y="1810512"/>
            <a:ext cx="4114800" cy="457200"/>
          </a:xfrm>
          <a:prstGeom prst="rect">
            <a:avLst/>
          </a:prstGeom>
          <a:noFill/>
          <a:ln/>
        </p:spPr>
        <p:txBody>
          <a:bodyPr wrap="square" lIns="0" tIns="0" rIns="0" bIns="0" rtlCol="0" anchor="ctr"/>
          <a:lstStyle/>
          <a:p>
            <a:pPr indent="0" marL="0">
              <a:buNone/>
            </a:pPr>
            <a:r>
              <a:rPr lang="en-US" sz="1200" dirty="0">
                <a:solidFill>
                  <a:srgbClr val="3C5563"/>
                </a:solidFill>
                <a:latin typeface="Arial" pitchFamily="34" charset="0"/>
                <a:ea typeface="Arial" pitchFamily="34" charset="-122"/>
                <a:cs typeface="Arial" pitchFamily="34" charset="-120"/>
              </a:rPr>
              <a:t>Türkçe soru, gerçek veriden yanıt, görünen SQL</a:t>
            </a:r>
            <a:endParaRPr lang="en-US" sz="1200" dirty="0"/>
          </a:p>
        </p:txBody>
      </p:sp>
      <p:sp>
        <p:nvSpPr>
          <p:cNvPr id="7" name="Shape 4"/>
          <p:cNvSpPr/>
          <p:nvPr/>
        </p:nvSpPr>
        <p:spPr>
          <a:xfrm>
            <a:off x="640080" y="2423160"/>
            <a:ext cx="512064" cy="512064"/>
          </a:xfrm>
          <a:prstGeom prst="ellipse">
            <a:avLst/>
          </a:prstGeom>
          <a:solidFill>
            <a:srgbClr val="1C8C6E"/>
          </a:solidFill>
          <a:ln/>
        </p:spPr>
      </p:sp>
      <p:pic>
        <p:nvPicPr>
          <p:cNvPr id="8" name="Image 1" descr="preencoded.png">    </p:cNvPr>
          <p:cNvPicPr>
            <a:picLocks noChangeAspect="1"/>
          </p:cNvPicPr>
          <p:nvPr/>
        </p:nvPicPr>
        <p:blipFill>
          <a:blip r:embed="rId2"/>
          <a:stretch>
            <a:fillRect/>
          </a:stretch>
        </p:blipFill>
        <p:spPr>
          <a:xfrm>
            <a:off x="781812" y="2564892"/>
            <a:ext cx="228600" cy="228600"/>
          </a:xfrm>
          <a:prstGeom prst="rect">
            <a:avLst/>
          </a:prstGeom>
        </p:spPr>
      </p:pic>
      <p:sp>
        <p:nvSpPr>
          <p:cNvPr id="9" name="Text 5"/>
          <p:cNvSpPr txBox="1"/>
          <p:nvPr/>
        </p:nvSpPr>
        <p:spPr>
          <a:xfrm>
            <a:off x="1353312" y="2377440"/>
            <a:ext cx="4114800" cy="329184"/>
          </a:xfrm>
          <a:prstGeom prst="rect">
            <a:avLst/>
          </a:prstGeom>
          <a:noFill/>
          <a:ln/>
        </p:spPr>
        <p:txBody>
          <a:bodyPr wrap="square" lIns="0" tIns="0" rIns="0" bIns="0" rtlCol="0" anchor="ctr"/>
          <a:lstStyle/>
          <a:p>
            <a:pPr indent="0" marL="0">
              <a:buNone/>
            </a:pPr>
            <a:r>
              <a:rPr lang="en-US" sz="1600" b="1" dirty="0">
                <a:solidFill>
                  <a:srgbClr val="12303F"/>
                </a:solidFill>
                <a:latin typeface="Arial" pitchFamily="34" charset="0"/>
                <a:ea typeface="Arial" pitchFamily="34" charset="-122"/>
                <a:cs typeface="Arial" pitchFamily="34" charset="-120"/>
              </a:rPr>
              <a:t>Görsel analitik</a:t>
            </a:r>
            <a:endParaRPr lang="en-US" sz="1600" dirty="0"/>
          </a:p>
        </p:txBody>
      </p:sp>
      <p:sp>
        <p:nvSpPr>
          <p:cNvPr id="10" name="Text 6"/>
          <p:cNvSpPr txBox="1"/>
          <p:nvPr/>
        </p:nvSpPr>
        <p:spPr>
          <a:xfrm>
            <a:off x="1353312" y="2706624"/>
            <a:ext cx="4114800" cy="457200"/>
          </a:xfrm>
          <a:prstGeom prst="rect">
            <a:avLst/>
          </a:prstGeom>
          <a:noFill/>
          <a:ln/>
        </p:spPr>
        <p:txBody>
          <a:bodyPr wrap="square" lIns="0" tIns="0" rIns="0" bIns="0" rtlCol="0" anchor="ctr"/>
          <a:lstStyle/>
          <a:p>
            <a:pPr indent="0" marL="0">
              <a:buNone/>
            </a:pPr>
            <a:r>
              <a:rPr lang="en-US" sz="1200" dirty="0">
                <a:solidFill>
                  <a:srgbClr val="3C5563"/>
                </a:solidFill>
                <a:latin typeface="Arial" pitchFamily="34" charset="0"/>
                <a:ea typeface="Arial" pitchFamily="34" charset="-122"/>
                <a:cs typeface="Arial" pitchFamily="34" charset="-120"/>
              </a:rPr>
              <a:t>KPI kartları, aylık gelir–gider, kategori dağılımı</a:t>
            </a:r>
            <a:endParaRPr lang="en-US" sz="1200" dirty="0"/>
          </a:p>
        </p:txBody>
      </p:sp>
      <p:sp>
        <p:nvSpPr>
          <p:cNvPr id="11" name="Shape 7"/>
          <p:cNvSpPr/>
          <p:nvPr/>
        </p:nvSpPr>
        <p:spPr>
          <a:xfrm>
            <a:off x="640080" y="3319272"/>
            <a:ext cx="512064" cy="512064"/>
          </a:xfrm>
          <a:prstGeom prst="ellipse">
            <a:avLst/>
          </a:prstGeom>
          <a:solidFill>
            <a:srgbClr val="1C8C6E"/>
          </a:solidFill>
          <a:ln/>
        </p:spPr>
      </p:sp>
      <p:pic>
        <p:nvPicPr>
          <p:cNvPr id="12" name="Image 2" descr="preencoded.png">    </p:cNvPr>
          <p:cNvPicPr>
            <a:picLocks noChangeAspect="1"/>
          </p:cNvPicPr>
          <p:nvPr/>
        </p:nvPicPr>
        <p:blipFill>
          <a:blip r:embed="rId3"/>
          <a:stretch>
            <a:fillRect/>
          </a:stretch>
        </p:blipFill>
        <p:spPr>
          <a:xfrm>
            <a:off x="781812" y="3461004"/>
            <a:ext cx="228600" cy="228600"/>
          </a:xfrm>
          <a:prstGeom prst="rect">
            <a:avLst/>
          </a:prstGeom>
        </p:spPr>
      </p:pic>
      <p:sp>
        <p:nvSpPr>
          <p:cNvPr id="13" name="Text 8"/>
          <p:cNvSpPr txBox="1"/>
          <p:nvPr/>
        </p:nvSpPr>
        <p:spPr>
          <a:xfrm>
            <a:off x="1353312" y="3273552"/>
            <a:ext cx="4114800" cy="329184"/>
          </a:xfrm>
          <a:prstGeom prst="rect">
            <a:avLst/>
          </a:prstGeom>
          <a:noFill/>
          <a:ln/>
        </p:spPr>
        <p:txBody>
          <a:bodyPr wrap="square" lIns="0" tIns="0" rIns="0" bIns="0" rtlCol="0" anchor="ctr"/>
          <a:lstStyle/>
          <a:p>
            <a:pPr indent="0" marL="0">
              <a:buNone/>
            </a:pPr>
            <a:r>
              <a:rPr lang="en-US" sz="1600" b="1" dirty="0">
                <a:solidFill>
                  <a:srgbClr val="12303F"/>
                </a:solidFill>
                <a:latin typeface="Arial" pitchFamily="34" charset="0"/>
                <a:ea typeface="Arial" pitchFamily="34" charset="-122"/>
                <a:cs typeface="Arial" pitchFamily="34" charset="-120"/>
              </a:rPr>
              <a:t>Otonom tedarik ajanı</a:t>
            </a:r>
            <a:endParaRPr lang="en-US" sz="1600" dirty="0"/>
          </a:p>
        </p:txBody>
      </p:sp>
      <p:sp>
        <p:nvSpPr>
          <p:cNvPr id="14" name="Text 9"/>
          <p:cNvSpPr txBox="1"/>
          <p:nvPr/>
        </p:nvSpPr>
        <p:spPr>
          <a:xfrm>
            <a:off x="1353312" y="3602736"/>
            <a:ext cx="4114800" cy="457200"/>
          </a:xfrm>
          <a:prstGeom prst="rect">
            <a:avLst/>
          </a:prstGeom>
          <a:noFill/>
          <a:ln/>
        </p:spPr>
        <p:txBody>
          <a:bodyPr wrap="square" lIns="0" tIns="0" rIns="0" bIns="0" rtlCol="0" anchor="ctr"/>
          <a:lstStyle/>
          <a:p>
            <a:pPr indent="0" marL="0">
              <a:buNone/>
            </a:pPr>
            <a:r>
              <a:rPr lang="en-US" sz="1200" dirty="0">
                <a:solidFill>
                  <a:srgbClr val="3C5563"/>
                </a:solidFill>
                <a:latin typeface="Arial" pitchFamily="34" charset="0"/>
                <a:ea typeface="Arial" pitchFamily="34" charset="-122"/>
                <a:cs typeface="Arial" pitchFamily="34" charset="-120"/>
              </a:rPr>
              <a:t>Kritik stok, sipariş taslağı, insan onayı</a:t>
            </a:r>
            <a:endParaRPr lang="en-US" sz="1200" dirty="0"/>
          </a:p>
        </p:txBody>
      </p:sp>
      <p:sp>
        <p:nvSpPr>
          <p:cNvPr id="15" name="Shape 10"/>
          <p:cNvSpPr/>
          <p:nvPr/>
        </p:nvSpPr>
        <p:spPr>
          <a:xfrm>
            <a:off x="640080" y="4215384"/>
            <a:ext cx="512064" cy="512064"/>
          </a:xfrm>
          <a:prstGeom prst="ellipse">
            <a:avLst/>
          </a:prstGeom>
          <a:solidFill>
            <a:srgbClr val="1C8C6E"/>
          </a:solidFill>
          <a:ln/>
        </p:spPr>
      </p:sp>
      <p:pic>
        <p:nvPicPr>
          <p:cNvPr id="16" name="Image 3" descr="preencoded.png">    </p:cNvPr>
          <p:cNvPicPr>
            <a:picLocks noChangeAspect="1"/>
          </p:cNvPicPr>
          <p:nvPr/>
        </p:nvPicPr>
        <p:blipFill>
          <a:blip r:embed="rId4"/>
          <a:stretch>
            <a:fillRect/>
          </a:stretch>
        </p:blipFill>
        <p:spPr>
          <a:xfrm>
            <a:off x="781812" y="4357116"/>
            <a:ext cx="228600" cy="228600"/>
          </a:xfrm>
          <a:prstGeom prst="rect">
            <a:avLst/>
          </a:prstGeom>
        </p:spPr>
      </p:pic>
      <p:sp>
        <p:nvSpPr>
          <p:cNvPr id="17" name="Text 11"/>
          <p:cNvSpPr txBox="1"/>
          <p:nvPr/>
        </p:nvSpPr>
        <p:spPr>
          <a:xfrm>
            <a:off x="1353312" y="4169664"/>
            <a:ext cx="4114800" cy="329184"/>
          </a:xfrm>
          <a:prstGeom prst="rect">
            <a:avLst/>
          </a:prstGeom>
          <a:noFill/>
          <a:ln/>
        </p:spPr>
        <p:txBody>
          <a:bodyPr wrap="square" lIns="0" tIns="0" rIns="0" bIns="0" rtlCol="0" anchor="ctr"/>
          <a:lstStyle/>
          <a:p>
            <a:pPr indent="0" marL="0">
              <a:buNone/>
            </a:pPr>
            <a:r>
              <a:rPr lang="en-US" sz="1600" b="1" dirty="0">
                <a:solidFill>
                  <a:srgbClr val="12303F"/>
                </a:solidFill>
                <a:latin typeface="Arial" pitchFamily="34" charset="0"/>
                <a:ea typeface="Arial" pitchFamily="34" charset="-122"/>
                <a:cs typeface="Arial" pitchFamily="34" charset="-120"/>
              </a:rPr>
              <a:t>Kullanıcı dostu web arayüzü</a:t>
            </a:r>
            <a:endParaRPr lang="en-US" sz="1600" dirty="0"/>
          </a:p>
        </p:txBody>
      </p:sp>
      <p:sp>
        <p:nvSpPr>
          <p:cNvPr id="18" name="Text 12"/>
          <p:cNvSpPr txBox="1"/>
          <p:nvPr/>
        </p:nvSpPr>
        <p:spPr>
          <a:xfrm>
            <a:off x="1353312" y="4498848"/>
            <a:ext cx="4114800" cy="457200"/>
          </a:xfrm>
          <a:prstGeom prst="rect">
            <a:avLst/>
          </a:prstGeom>
          <a:noFill/>
          <a:ln/>
        </p:spPr>
        <p:txBody>
          <a:bodyPr wrap="square" lIns="0" tIns="0" rIns="0" bIns="0" rtlCol="0" anchor="ctr"/>
          <a:lstStyle/>
          <a:p>
            <a:pPr indent="0" marL="0">
              <a:buNone/>
            </a:pPr>
            <a:r>
              <a:rPr lang="en-US" sz="1200" dirty="0">
                <a:solidFill>
                  <a:srgbClr val="3C5563"/>
                </a:solidFill>
                <a:latin typeface="Arial" pitchFamily="34" charset="0"/>
                <a:ea typeface="Arial" pitchFamily="34" charset="-122"/>
                <a:cs typeface="Arial" pitchFamily="34" charset="-120"/>
              </a:rPr>
              <a:t>Kurulumsuz, her cihazdan, sade kayıt ekranı</a:t>
            </a:r>
            <a:endParaRPr lang="en-US" sz="1200" dirty="0"/>
          </a:p>
        </p:txBody>
      </p:sp>
      <p:sp>
        <p:nvSpPr>
          <p:cNvPr id="19" name="Shape 13"/>
          <p:cNvSpPr/>
          <p:nvPr/>
        </p:nvSpPr>
        <p:spPr>
          <a:xfrm>
            <a:off x="5843016" y="1426464"/>
            <a:ext cx="5763463" cy="3643313"/>
          </a:xfrm>
          <a:prstGeom prst="roundRect">
            <a:avLst>
              <a:gd name="adj" fmla="val 1506"/>
            </a:avLst>
          </a:prstGeom>
          <a:solidFill>
            <a:srgbClr val="EAF5F1"/>
          </a:solidFill>
          <a:ln w="12700">
            <a:solidFill>
              <a:srgbClr val="D3E4DD"/>
            </a:solidFill>
            <a:prstDash val="solid"/>
          </a:ln>
          <a:effectLst>
            <a:outerShdw sx="100000" sy="100000" kx="0" ky="0" algn="bl" rotWithShape="0" blurRad="127000" dist="25400" dir="5400000">
              <a:srgbClr val="0F2A3C">
                <a:alpha val="10000"/>
              </a:srgbClr>
            </a:outerShdw>
          </a:effectLst>
        </p:spPr>
      </p:sp>
      <p:pic>
        <p:nvPicPr>
          <p:cNvPr id="20" name="Image 4" descr="/private/tmp/claude-501/-Users-muratates/5f4d8f04-f5b5-43b2-90a2-3242d6dc5e49/scratchpad/deck/img/genel-bakis.png">    </p:cNvPr>
          <p:cNvPicPr>
            <a:picLocks noChangeAspect="1"/>
          </p:cNvPicPr>
          <p:nvPr/>
        </p:nvPicPr>
        <p:blipFill>
          <a:blip r:embed="rId5"/>
          <a:stretch>
            <a:fillRect/>
          </a:stretch>
        </p:blipFill>
        <p:spPr>
          <a:xfrm>
            <a:off x="5897880" y="1481328"/>
            <a:ext cx="5653735" cy="3533585"/>
          </a:xfrm>
          <a:prstGeom prst="rect">
            <a:avLst/>
          </a:prstGeom>
        </p:spPr>
      </p:pic>
      <p:sp>
        <p:nvSpPr>
          <p:cNvPr id="21" name="Text 14"/>
          <p:cNvSpPr txBox="1"/>
          <p:nvPr/>
        </p:nvSpPr>
        <p:spPr>
          <a:xfrm>
            <a:off x="5897880" y="5161217"/>
            <a:ext cx="5653735" cy="320040"/>
          </a:xfrm>
          <a:prstGeom prst="rect">
            <a:avLst/>
          </a:prstGeom>
          <a:noFill/>
          <a:ln/>
        </p:spPr>
        <p:txBody>
          <a:bodyPr wrap="square" lIns="0" tIns="0" rIns="0" bIns="0" rtlCol="0" anchor="ctr"/>
          <a:lstStyle/>
          <a:p>
            <a:pPr indent="0" marL="0">
              <a:buNone/>
            </a:pPr>
            <a:r>
              <a:rPr lang="en-US" sz="1100" dirty="0">
                <a:solidFill>
                  <a:srgbClr val="3C5563"/>
                </a:solidFill>
                <a:latin typeface="Arial" pitchFamily="34" charset="0"/>
                <a:ea typeface="Arial" pitchFamily="34" charset="-122"/>
                <a:cs typeface="Arial" pitchFamily="34" charset="-120"/>
              </a:rPr>
              <a:t>Genel Bakış ekranı · sentetik demo verisi (Nisan–Eylül 2026)</a:t>
            </a:r>
            <a:endParaRPr lang="en-US" sz="1100" dirty="0"/>
          </a:p>
        </p:txBody>
      </p:sp>
      <p:sp>
        <p:nvSpPr>
          <p:cNvPr id="22" name="Text 15"/>
          <p:cNvSpPr txBox="1"/>
          <p:nvPr/>
        </p:nvSpPr>
        <p:spPr>
          <a:xfrm>
            <a:off x="640080" y="5715000"/>
            <a:ext cx="10911535" cy="411480"/>
          </a:xfrm>
          <a:prstGeom prst="rect">
            <a:avLst/>
          </a:prstGeom>
          <a:noFill/>
          <a:ln/>
        </p:spPr>
        <p:txBody>
          <a:bodyPr wrap="square" lIns="0" tIns="0" rIns="0" bIns="0" rtlCol="0" anchor="ctr"/>
          <a:lstStyle/>
          <a:p>
            <a:pPr indent="0" marL="0">
              <a:buNone/>
            </a:pPr>
            <a:r>
              <a:rPr lang="en-US" sz="1700" b="1" dirty="0">
                <a:solidFill>
                  <a:srgbClr val="12303F"/>
                </a:solidFill>
                <a:latin typeface="Arial" pitchFamily="34" charset="0"/>
                <a:ea typeface="Arial" pitchFamily="34" charset="-122"/>
                <a:cs typeface="Arial" pitchFamily="34" charset="-120"/>
              </a:rPr>
              <a:t>Muhasebe yazılımını değiştirmiyoruz; veriye erişim ve aksiyon katmanını sadeleştiriyoruz.</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2A3C"/>
        </a:solidFill>
      </p:bgPr>
    </p:bg>
    <p:spTree>
      <p:nvGrpSpPr>
        <p:cNvPr id="1" name=""/>
        <p:cNvGrpSpPr/>
        <p:nvPr/>
      </p:nvGrpSpPr>
      <p:grpSpPr>
        <a:xfrm>
          <a:off x="0" y="0"/>
          <a:ext cx="0" cy="0"/>
          <a:chOff x="0" y="0"/>
          <a:chExt cx="0" cy="0"/>
        </a:xfrm>
      </p:grpSpPr>
      <p:sp>
        <p:nvSpPr>
          <p:cNvPr id="2" name="Text 0"/>
          <p:cNvSpPr txBox="1"/>
          <p:nvPr/>
        </p:nvSpPr>
        <p:spPr>
          <a:xfrm>
            <a:off x="640080" y="438912"/>
            <a:ext cx="10911535" cy="64008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Nasıl çalışır</a:t>
            </a:r>
            <a:endParaRPr lang="en-US" sz="3600" dirty="0"/>
          </a:p>
        </p:txBody>
      </p:sp>
      <p:sp>
        <p:nvSpPr>
          <p:cNvPr id="3" name="Text 1"/>
          <p:cNvSpPr txBox="1"/>
          <p:nvPr/>
        </p:nvSpPr>
        <p:spPr>
          <a:xfrm>
            <a:off x="640080" y="1325880"/>
            <a:ext cx="10911535" cy="292608"/>
          </a:xfrm>
          <a:prstGeom prst="rect">
            <a:avLst/>
          </a:prstGeom>
          <a:noFill/>
          <a:ln/>
        </p:spPr>
        <p:txBody>
          <a:bodyPr wrap="square" lIns="0" tIns="0" rIns="0" bIns="0" rtlCol="0" anchor="ctr"/>
          <a:lstStyle/>
          <a:p>
            <a:pPr indent="0" marL="0">
              <a:buNone/>
            </a:pPr>
            <a:r>
              <a:rPr lang="en-US" sz="1100" b="1" spc="200" kern="0" dirty="0">
                <a:solidFill>
                  <a:srgbClr val="7FD9BC"/>
                </a:solidFill>
                <a:latin typeface="Arial" pitchFamily="34" charset="0"/>
                <a:ea typeface="Arial" pitchFamily="34" charset="-122"/>
                <a:cs typeface="Arial" pitchFamily="34" charset="-120"/>
              </a:rPr>
              <a:t>SORU → YANIT</a:t>
            </a:r>
            <a:endParaRPr lang="en-US" sz="1100" dirty="0"/>
          </a:p>
        </p:txBody>
      </p:sp>
      <p:sp>
        <p:nvSpPr>
          <p:cNvPr id="4" name="Shape 2"/>
          <p:cNvSpPr/>
          <p:nvPr/>
        </p:nvSpPr>
        <p:spPr>
          <a:xfrm>
            <a:off x="640080" y="1691640"/>
            <a:ext cx="1933590" cy="1024128"/>
          </a:xfrm>
          <a:prstGeom prst="roundRect">
            <a:avLst>
              <a:gd name="adj" fmla="val 8929"/>
            </a:avLst>
          </a:prstGeom>
          <a:solidFill>
            <a:srgbClr val="1A3E52"/>
          </a:solidFill>
          <a:ln w="12700">
            <a:solidFill>
              <a:srgbClr val="2C5871"/>
            </a:solidFill>
            <a:prstDash val="solid"/>
          </a:ln>
        </p:spPr>
      </p:sp>
      <p:sp>
        <p:nvSpPr>
          <p:cNvPr id="5" name="Text 3"/>
          <p:cNvSpPr txBox="1"/>
          <p:nvPr/>
        </p:nvSpPr>
        <p:spPr>
          <a:xfrm>
            <a:off x="749808" y="1691640"/>
            <a:ext cx="1714134" cy="1024128"/>
          </a:xfrm>
          <a:prstGeom prst="rect">
            <a:avLst/>
          </a:prstGeom>
          <a:noFill/>
          <a:ln/>
        </p:spPr>
        <p:txBody>
          <a:bodyPr wrap="square" lIns="0" tIns="0" rIns="0" bIns="0" rtlCol="0" anchor="ctr"/>
          <a:lstStyle/>
          <a:p>
            <a:pPr algn="ctr" indent="0" marL="0">
              <a:buNone/>
            </a:pPr>
            <a:r>
              <a:rPr lang="en-US" sz="1300" dirty="0">
                <a:solidFill>
                  <a:srgbClr val="FFFFFF"/>
                </a:solidFill>
                <a:latin typeface="Arial" pitchFamily="34" charset="0"/>
                <a:ea typeface="Arial" pitchFamily="34" charset="-122"/>
                <a:cs typeface="Arial" pitchFamily="34" charset="-120"/>
              </a:rPr>
              <a:t>Türkçe soru</a:t>
            </a:r>
            <a:endParaRPr lang="en-US" sz="1300" dirty="0"/>
          </a:p>
        </p:txBody>
      </p:sp>
      <p:sp>
        <p:nvSpPr>
          <p:cNvPr id="6" name="Text 4"/>
          <p:cNvSpPr txBox="1"/>
          <p:nvPr/>
        </p:nvSpPr>
        <p:spPr>
          <a:xfrm>
            <a:off x="2573670" y="1691640"/>
            <a:ext cx="310896" cy="1024128"/>
          </a:xfrm>
          <a:prstGeom prst="rect">
            <a:avLst/>
          </a:prstGeom>
          <a:noFill/>
          <a:ln/>
        </p:spPr>
        <p:txBody>
          <a:bodyPr wrap="square" lIns="0" tIns="0" rIns="0" bIns="0" rtlCol="0" anchor="ctr"/>
          <a:lstStyle/>
          <a:p>
            <a:pPr algn="ctr" indent="0" marL="0">
              <a:buNone/>
            </a:pPr>
            <a:r>
              <a:rPr lang="en-US" sz="1800" b="1" dirty="0">
                <a:solidFill>
                  <a:srgbClr val="7FD9BC"/>
                </a:solidFill>
                <a:latin typeface="Arial" pitchFamily="34" charset="0"/>
                <a:ea typeface="Arial" pitchFamily="34" charset="-122"/>
                <a:cs typeface="Arial" pitchFamily="34" charset="-120"/>
              </a:rPr>
              <a:t>→</a:t>
            </a:r>
            <a:endParaRPr lang="en-US" sz="1800" dirty="0"/>
          </a:p>
        </p:txBody>
      </p:sp>
      <p:sp>
        <p:nvSpPr>
          <p:cNvPr id="7" name="Shape 5"/>
          <p:cNvSpPr/>
          <p:nvPr/>
        </p:nvSpPr>
        <p:spPr>
          <a:xfrm>
            <a:off x="2884566" y="1691640"/>
            <a:ext cx="1933590" cy="1024128"/>
          </a:xfrm>
          <a:prstGeom prst="roundRect">
            <a:avLst>
              <a:gd name="adj" fmla="val 8929"/>
            </a:avLst>
          </a:prstGeom>
          <a:solidFill>
            <a:srgbClr val="1A3E52"/>
          </a:solidFill>
          <a:ln w="12700">
            <a:solidFill>
              <a:srgbClr val="2C5871"/>
            </a:solidFill>
            <a:prstDash val="solid"/>
          </a:ln>
        </p:spPr>
      </p:sp>
      <p:sp>
        <p:nvSpPr>
          <p:cNvPr id="8" name="Text 6"/>
          <p:cNvSpPr txBox="1"/>
          <p:nvPr/>
        </p:nvSpPr>
        <p:spPr>
          <a:xfrm>
            <a:off x="2994294" y="1691640"/>
            <a:ext cx="1714134" cy="1024128"/>
          </a:xfrm>
          <a:prstGeom prst="rect">
            <a:avLst/>
          </a:prstGeom>
          <a:noFill/>
          <a:ln/>
        </p:spPr>
        <p:txBody>
          <a:bodyPr wrap="square" lIns="0" tIns="0" rIns="0" bIns="0" rtlCol="0" anchor="ctr"/>
          <a:lstStyle/>
          <a:p>
            <a:pPr algn="ctr" indent="0" marL="0">
              <a:buNone/>
            </a:pPr>
            <a:r>
              <a:rPr lang="en-US" sz="1300" dirty="0">
                <a:solidFill>
                  <a:srgbClr val="FFFFFF"/>
                </a:solidFill>
                <a:latin typeface="Arial" pitchFamily="34" charset="0"/>
                <a:ea typeface="Arial" pitchFamily="34" charset="-122"/>
                <a:cs typeface="Arial" pitchFamily="34" charset="-120"/>
              </a:rPr>
              <a:t>LLM yalnız SQL yazar</a:t>
            </a:r>
            <a:endParaRPr lang="en-US" sz="1300" dirty="0"/>
          </a:p>
        </p:txBody>
      </p:sp>
      <p:sp>
        <p:nvSpPr>
          <p:cNvPr id="9" name="Text 7"/>
          <p:cNvSpPr txBox="1"/>
          <p:nvPr/>
        </p:nvSpPr>
        <p:spPr>
          <a:xfrm>
            <a:off x="4818156" y="1691640"/>
            <a:ext cx="310896" cy="1024128"/>
          </a:xfrm>
          <a:prstGeom prst="rect">
            <a:avLst/>
          </a:prstGeom>
          <a:noFill/>
          <a:ln/>
        </p:spPr>
        <p:txBody>
          <a:bodyPr wrap="square" lIns="0" tIns="0" rIns="0" bIns="0" rtlCol="0" anchor="ctr"/>
          <a:lstStyle/>
          <a:p>
            <a:pPr algn="ctr" indent="0" marL="0">
              <a:buNone/>
            </a:pPr>
            <a:r>
              <a:rPr lang="en-US" sz="1800" b="1" dirty="0">
                <a:solidFill>
                  <a:srgbClr val="7FD9BC"/>
                </a:solidFill>
                <a:latin typeface="Arial" pitchFamily="34" charset="0"/>
                <a:ea typeface="Arial" pitchFamily="34" charset="-122"/>
                <a:cs typeface="Arial" pitchFamily="34" charset="-120"/>
              </a:rPr>
              <a:t>→</a:t>
            </a:r>
            <a:endParaRPr lang="en-US" sz="1800" dirty="0"/>
          </a:p>
        </p:txBody>
      </p:sp>
      <p:sp>
        <p:nvSpPr>
          <p:cNvPr id="10" name="Shape 8"/>
          <p:cNvSpPr/>
          <p:nvPr/>
        </p:nvSpPr>
        <p:spPr>
          <a:xfrm>
            <a:off x="5129052" y="1691640"/>
            <a:ext cx="1933590" cy="1024128"/>
          </a:xfrm>
          <a:prstGeom prst="roundRect">
            <a:avLst>
              <a:gd name="adj" fmla="val 8929"/>
            </a:avLst>
          </a:prstGeom>
          <a:solidFill>
            <a:srgbClr val="1A3E52"/>
          </a:solidFill>
          <a:ln w="12700">
            <a:solidFill>
              <a:srgbClr val="2C5871"/>
            </a:solidFill>
            <a:prstDash val="solid"/>
          </a:ln>
        </p:spPr>
      </p:sp>
      <p:sp>
        <p:nvSpPr>
          <p:cNvPr id="11" name="Text 9"/>
          <p:cNvSpPr txBox="1"/>
          <p:nvPr/>
        </p:nvSpPr>
        <p:spPr>
          <a:xfrm>
            <a:off x="5238780" y="1691640"/>
            <a:ext cx="1714134" cy="1024128"/>
          </a:xfrm>
          <a:prstGeom prst="rect">
            <a:avLst/>
          </a:prstGeom>
          <a:noFill/>
          <a:ln/>
        </p:spPr>
        <p:txBody>
          <a:bodyPr wrap="square" lIns="0" tIns="0" rIns="0" bIns="0" rtlCol="0" anchor="ctr"/>
          <a:lstStyle/>
          <a:p>
            <a:pPr algn="ctr" indent="0" marL="0">
              <a:buNone/>
            </a:pPr>
            <a:r>
              <a:rPr lang="en-US" sz="1300" dirty="0">
                <a:solidFill>
                  <a:srgbClr val="FFFFFF"/>
                </a:solidFill>
                <a:latin typeface="Arial" pitchFamily="34" charset="0"/>
                <a:ea typeface="Arial" pitchFamily="34" charset="-122"/>
                <a:cs typeface="Arial" pitchFamily="34" charset="-120"/>
              </a:rPr>
              <a:t>sqlglot koruması</a:t>
            </a:r>
            <a:endParaRPr lang="en-US" sz="1300" dirty="0"/>
          </a:p>
          <a:p>
            <a:pPr algn="ctr" indent="0" marL="0">
              <a:buNone/>
            </a:pPr>
            <a:r>
              <a:rPr lang="en-US" sz="1300" dirty="0">
                <a:solidFill>
                  <a:srgbClr val="FFFFFF"/>
                </a:solidFill>
                <a:latin typeface="Arial" pitchFamily="34" charset="0"/>
                <a:ea typeface="Arial" pitchFamily="34" charset="-122"/>
                <a:cs typeface="Arial" pitchFamily="34" charset="-120"/>
              </a:rPr>
              <a:t>+ salt-okur rol</a:t>
            </a:r>
            <a:endParaRPr lang="en-US" sz="1300" dirty="0"/>
          </a:p>
        </p:txBody>
      </p:sp>
      <p:sp>
        <p:nvSpPr>
          <p:cNvPr id="12" name="Text 10"/>
          <p:cNvSpPr txBox="1"/>
          <p:nvPr/>
        </p:nvSpPr>
        <p:spPr>
          <a:xfrm>
            <a:off x="7062643" y="1691640"/>
            <a:ext cx="310896" cy="1024128"/>
          </a:xfrm>
          <a:prstGeom prst="rect">
            <a:avLst/>
          </a:prstGeom>
          <a:noFill/>
          <a:ln/>
        </p:spPr>
        <p:txBody>
          <a:bodyPr wrap="square" lIns="0" tIns="0" rIns="0" bIns="0" rtlCol="0" anchor="ctr"/>
          <a:lstStyle/>
          <a:p>
            <a:pPr algn="ctr" indent="0" marL="0">
              <a:buNone/>
            </a:pPr>
            <a:r>
              <a:rPr lang="en-US" sz="1800" b="1" dirty="0">
                <a:solidFill>
                  <a:srgbClr val="7FD9BC"/>
                </a:solidFill>
                <a:latin typeface="Arial" pitchFamily="34" charset="0"/>
                <a:ea typeface="Arial" pitchFamily="34" charset="-122"/>
                <a:cs typeface="Arial" pitchFamily="34" charset="-120"/>
              </a:rPr>
              <a:t>→</a:t>
            </a:r>
            <a:endParaRPr lang="en-US" sz="1800" dirty="0"/>
          </a:p>
        </p:txBody>
      </p:sp>
      <p:sp>
        <p:nvSpPr>
          <p:cNvPr id="13" name="Shape 11"/>
          <p:cNvSpPr/>
          <p:nvPr/>
        </p:nvSpPr>
        <p:spPr>
          <a:xfrm>
            <a:off x="7373539" y="1691640"/>
            <a:ext cx="1933590" cy="1024128"/>
          </a:xfrm>
          <a:prstGeom prst="roundRect">
            <a:avLst>
              <a:gd name="adj" fmla="val 8929"/>
            </a:avLst>
          </a:prstGeom>
          <a:solidFill>
            <a:srgbClr val="1A3E52"/>
          </a:solidFill>
          <a:ln w="12700">
            <a:solidFill>
              <a:srgbClr val="2C5871"/>
            </a:solidFill>
            <a:prstDash val="solid"/>
          </a:ln>
        </p:spPr>
      </p:sp>
      <p:sp>
        <p:nvSpPr>
          <p:cNvPr id="14" name="Text 12"/>
          <p:cNvSpPr txBox="1"/>
          <p:nvPr/>
        </p:nvSpPr>
        <p:spPr>
          <a:xfrm>
            <a:off x="7483267" y="1691640"/>
            <a:ext cx="1714134" cy="1024128"/>
          </a:xfrm>
          <a:prstGeom prst="rect">
            <a:avLst/>
          </a:prstGeom>
          <a:noFill/>
          <a:ln/>
        </p:spPr>
        <p:txBody>
          <a:bodyPr wrap="square" lIns="0" tIns="0" rIns="0" bIns="0" rtlCol="0" anchor="ctr"/>
          <a:lstStyle/>
          <a:p>
            <a:pPr algn="ctr" indent="0" marL="0">
              <a:buNone/>
            </a:pPr>
            <a:r>
              <a:rPr lang="en-US" sz="1300" dirty="0">
                <a:solidFill>
                  <a:srgbClr val="FFFFFF"/>
                </a:solidFill>
                <a:latin typeface="Arial" pitchFamily="34" charset="0"/>
                <a:ea typeface="Arial" pitchFamily="34" charset="-122"/>
                <a:cs typeface="Arial" pitchFamily="34" charset="-120"/>
              </a:rPr>
              <a:t>Veritabanı rakamı verir</a:t>
            </a:r>
            <a:endParaRPr lang="en-US" sz="1300" dirty="0"/>
          </a:p>
        </p:txBody>
      </p:sp>
      <p:sp>
        <p:nvSpPr>
          <p:cNvPr id="15" name="Text 13"/>
          <p:cNvSpPr txBox="1"/>
          <p:nvPr/>
        </p:nvSpPr>
        <p:spPr>
          <a:xfrm>
            <a:off x="9307129" y="1691640"/>
            <a:ext cx="310896" cy="1024128"/>
          </a:xfrm>
          <a:prstGeom prst="rect">
            <a:avLst/>
          </a:prstGeom>
          <a:noFill/>
          <a:ln/>
        </p:spPr>
        <p:txBody>
          <a:bodyPr wrap="square" lIns="0" tIns="0" rIns="0" bIns="0" rtlCol="0" anchor="ctr"/>
          <a:lstStyle/>
          <a:p>
            <a:pPr algn="ctr" indent="0" marL="0">
              <a:buNone/>
            </a:pPr>
            <a:r>
              <a:rPr lang="en-US" sz="1800" b="1" dirty="0">
                <a:solidFill>
                  <a:srgbClr val="7FD9BC"/>
                </a:solidFill>
                <a:latin typeface="Arial" pitchFamily="34" charset="0"/>
                <a:ea typeface="Arial" pitchFamily="34" charset="-122"/>
                <a:cs typeface="Arial" pitchFamily="34" charset="-120"/>
              </a:rPr>
              <a:t>→</a:t>
            </a:r>
            <a:endParaRPr lang="en-US" sz="1800" dirty="0"/>
          </a:p>
        </p:txBody>
      </p:sp>
      <p:sp>
        <p:nvSpPr>
          <p:cNvPr id="16" name="Shape 14"/>
          <p:cNvSpPr/>
          <p:nvPr/>
        </p:nvSpPr>
        <p:spPr>
          <a:xfrm>
            <a:off x="9618025" y="1691640"/>
            <a:ext cx="1933590" cy="1024128"/>
          </a:xfrm>
          <a:prstGeom prst="roundRect">
            <a:avLst>
              <a:gd name="adj" fmla="val 8929"/>
            </a:avLst>
          </a:prstGeom>
          <a:solidFill>
            <a:srgbClr val="1A3E52"/>
          </a:solidFill>
          <a:ln w="12700">
            <a:solidFill>
              <a:srgbClr val="2C5871"/>
            </a:solidFill>
            <a:prstDash val="solid"/>
          </a:ln>
        </p:spPr>
      </p:sp>
      <p:sp>
        <p:nvSpPr>
          <p:cNvPr id="17" name="Text 15"/>
          <p:cNvSpPr txBox="1"/>
          <p:nvPr/>
        </p:nvSpPr>
        <p:spPr>
          <a:xfrm>
            <a:off x="9727753" y="1691640"/>
            <a:ext cx="1714134" cy="1024128"/>
          </a:xfrm>
          <a:prstGeom prst="rect">
            <a:avLst/>
          </a:prstGeom>
          <a:noFill/>
          <a:ln/>
        </p:spPr>
        <p:txBody>
          <a:bodyPr wrap="square" lIns="0" tIns="0" rIns="0" bIns="0" rtlCol="0" anchor="ctr"/>
          <a:lstStyle/>
          <a:p>
            <a:pPr algn="ctr" indent="0" marL="0">
              <a:buNone/>
            </a:pPr>
            <a:r>
              <a:rPr lang="en-US" sz="1300" dirty="0">
                <a:solidFill>
                  <a:srgbClr val="FFFFFF"/>
                </a:solidFill>
                <a:latin typeface="Arial" pitchFamily="34" charset="0"/>
                <a:ea typeface="Arial" pitchFamily="34" charset="-122"/>
                <a:cs typeface="Arial" pitchFamily="34" charset="-120"/>
              </a:rPr>
              <a:t>Türkçe özet</a:t>
            </a:r>
            <a:endParaRPr lang="en-US" sz="1300" dirty="0"/>
          </a:p>
          <a:p>
            <a:pPr algn="ctr" indent="0" marL="0">
              <a:buNone/>
            </a:pPr>
            <a:r>
              <a:rPr lang="en-US" sz="1300" dirty="0">
                <a:solidFill>
                  <a:srgbClr val="FFFFFF"/>
                </a:solidFill>
                <a:latin typeface="Arial" pitchFamily="34" charset="0"/>
                <a:ea typeface="Arial" pitchFamily="34" charset="-122"/>
                <a:cs typeface="Arial" pitchFamily="34" charset="-120"/>
              </a:rPr>
              <a:t>SQL görünür</a:t>
            </a:r>
            <a:endParaRPr lang="en-US" sz="1300" dirty="0"/>
          </a:p>
        </p:txBody>
      </p:sp>
      <p:sp>
        <p:nvSpPr>
          <p:cNvPr id="18" name="Text 16"/>
          <p:cNvSpPr txBox="1"/>
          <p:nvPr/>
        </p:nvSpPr>
        <p:spPr>
          <a:xfrm>
            <a:off x="640080" y="3063240"/>
            <a:ext cx="10911535" cy="292608"/>
          </a:xfrm>
          <a:prstGeom prst="rect">
            <a:avLst/>
          </a:prstGeom>
          <a:noFill/>
          <a:ln/>
        </p:spPr>
        <p:txBody>
          <a:bodyPr wrap="square" lIns="0" tIns="0" rIns="0" bIns="0" rtlCol="0" anchor="ctr"/>
          <a:lstStyle/>
          <a:p>
            <a:pPr indent="0" marL="0">
              <a:buNone/>
            </a:pPr>
            <a:r>
              <a:rPr lang="en-US" sz="1100" b="1" spc="200" kern="0" dirty="0">
                <a:solidFill>
                  <a:srgbClr val="7FD9BC"/>
                </a:solidFill>
                <a:latin typeface="Arial" pitchFamily="34" charset="0"/>
                <a:ea typeface="Arial" pitchFamily="34" charset="-122"/>
                <a:cs typeface="Arial" pitchFamily="34" charset="-120"/>
              </a:rPr>
              <a:t>KRİTİK STOK → AKSİYON</a:t>
            </a:r>
            <a:endParaRPr lang="en-US" sz="1100" dirty="0"/>
          </a:p>
        </p:txBody>
      </p:sp>
      <p:sp>
        <p:nvSpPr>
          <p:cNvPr id="19" name="Shape 17"/>
          <p:cNvSpPr/>
          <p:nvPr/>
        </p:nvSpPr>
        <p:spPr>
          <a:xfrm>
            <a:off x="640080" y="3429000"/>
            <a:ext cx="2494712" cy="1024128"/>
          </a:xfrm>
          <a:prstGeom prst="roundRect">
            <a:avLst>
              <a:gd name="adj" fmla="val 8929"/>
            </a:avLst>
          </a:prstGeom>
          <a:solidFill>
            <a:srgbClr val="1A3E52"/>
          </a:solidFill>
          <a:ln w="12700">
            <a:solidFill>
              <a:srgbClr val="2C5871"/>
            </a:solidFill>
            <a:prstDash val="solid"/>
          </a:ln>
        </p:spPr>
      </p:sp>
      <p:sp>
        <p:nvSpPr>
          <p:cNvPr id="20" name="Text 18"/>
          <p:cNvSpPr txBox="1"/>
          <p:nvPr/>
        </p:nvSpPr>
        <p:spPr>
          <a:xfrm>
            <a:off x="749808" y="3429000"/>
            <a:ext cx="2275256" cy="1024128"/>
          </a:xfrm>
          <a:prstGeom prst="rect">
            <a:avLst/>
          </a:prstGeom>
          <a:noFill/>
          <a:ln/>
        </p:spPr>
        <p:txBody>
          <a:bodyPr wrap="square" lIns="0" tIns="0" rIns="0" bIns="0" rtlCol="0" anchor="ctr"/>
          <a:lstStyle/>
          <a:p>
            <a:pPr algn="ctr" indent="0" marL="0">
              <a:buNone/>
            </a:pPr>
            <a:r>
              <a:rPr lang="en-US" sz="1300" dirty="0">
                <a:solidFill>
                  <a:srgbClr val="FFFFFF"/>
                </a:solidFill>
                <a:latin typeface="Arial" pitchFamily="34" charset="0"/>
                <a:ea typeface="Arial" pitchFamily="34" charset="-122"/>
                <a:cs typeface="Arial" pitchFamily="34" charset="-120"/>
              </a:rPr>
              <a:t>Kritik stok</a:t>
            </a:r>
            <a:endParaRPr lang="en-US" sz="1300" dirty="0"/>
          </a:p>
        </p:txBody>
      </p:sp>
      <p:sp>
        <p:nvSpPr>
          <p:cNvPr id="21" name="Text 19"/>
          <p:cNvSpPr txBox="1"/>
          <p:nvPr/>
        </p:nvSpPr>
        <p:spPr>
          <a:xfrm>
            <a:off x="3134792" y="3429000"/>
            <a:ext cx="310896" cy="1024128"/>
          </a:xfrm>
          <a:prstGeom prst="rect">
            <a:avLst/>
          </a:prstGeom>
          <a:noFill/>
          <a:ln/>
        </p:spPr>
        <p:txBody>
          <a:bodyPr wrap="square" lIns="0" tIns="0" rIns="0" bIns="0" rtlCol="0" anchor="ctr"/>
          <a:lstStyle/>
          <a:p>
            <a:pPr algn="ctr" indent="0" marL="0">
              <a:buNone/>
            </a:pPr>
            <a:r>
              <a:rPr lang="en-US" sz="1800" b="1" dirty="0">
                <a:solidFill>
                  <a:srgbClr val="7FD9BC"/>
                </a:solidFill>
                <a:latin typeface="Arial" pitchFamily="34" charset="0"/>
                <a:ea typeface="Arial" pitchFamily="34" charset="-122"/>
                <a:cs typeface="Arial" pitchFamily="34" charset="-120"/>
              </a:rPr>
              <a:t>→</a:t>
            </a:r>
            <a:endParaRPr lang="en-US" sz="1800" dirty="0"/>
          </a:p>
        </p:txBody>
      </p:sp>
      <p:sp>
        <p:nvSpPr>
          <p:cNvPr id="22" name="Shape 20"/>
          <p:cNvSpPr/>
          <p:nvPr/>
        </p:nvSpPr>
        <p:spPr>
          <a:xfrm>
            <a:off x="3445688" y="3429000"/>
            <a:ext cx="2494712" cy="1024128"/>
          </a:xfrm>
          <a:prstGeom prst="roundRect">
            <a:avLst>
              <a:gd name="adj" fmla="val 8929"/>
            </a:avLst>
          </a:prstGeom>
          <a:solidFill>
            <a:srgbClr val="1A3E52"/>
          </a:solidFill>
          <a:ln w="12700">
            <a:solidFill>
              <a:srgbClr val="2C5871"/>
            </a:solidFill>
            <a:prstDash val="solid"/>
          </a:ln>
        </p:spPr>
      </p:sp>
      <p:sp>
        <p:nvSpPr>
          <p:cNvPr id="23" name="Text 21"/>
          <p:cNvSpPr txBox="1"/>
          <p:nvPr/>
        </p:nvSpPr>
        <p:spPr>
          <a:xfrm>
            <a:off x="3555416" y="3429000"/>
            <a:ext cx="2275256" cy="1024128"/>
          </a:xfrm>
          <a:prstGeom prst="rect">
            <a:avLst/>
          </a:prstGeom>
          <a:noFill/>
          <a:ln/>
        </p:spPr>
        <p:txBody>
          <a:bodyPr wrap="square" lIns="0" tIns="0" rIns="0" bIns="0" rtlCol="0" anchor="ctr"/>
          <a:lstStyle/>
          <a:p>
            <a:pPr algn="ctr" indent="0" marL="0">
              <a:buNone/>
            </a:pPr>
            <a:r>
              <a:rPr lang="en-US" sz="1300" dirty="0">
                <a:solidFill>
                  <a:srgbClr val="FFFFFF"/>
                </a:solidFill>
                <a:latin typeface="Arial" pitchFamily="34" charset="0"/>
                <a:ea typeface="Arial" pitchFamily="34" charset="-122"/>
                <a:cs typeface="Arial" pitchFamily="34" charset="-120"/>
              </a:rPr>
              <a:t>Kural motoru taslak</a:t>
            </a:r>
            <a:endParaRPr lang="en-US" sz="1300" dirty="0"/>
          </a:p>
        </p:txBody>
      </p:sp>
      <p:sp>
        <p:nvSpPr>
          <p:cNvPr id="24" name="Text 22"/>
          <p:cNvSpPr txBox="1"/>
          <p:nvPr/>
        </p:nvSpPr>
        <p:spPr>
          <a:xfrm>
            <a:off x="5940400" y="3429000"/>
            <a:ext cx="310896" cy="1024128"/>
          </a:xfrm>
          <a:prstGeom prst="rect">
            <a:avLst/>
          </a:prstGeom>
          <a:noFill/>
          <a:ln/>
        </p:spPr>
        <p:txBody>
          <a:bodyPr wrap="square" lIns="0" tIns="0" rIns="0" bIns="0" rtlCol="0" anchor="ctr"/>
          <a:lstStyle/>
          <a:p>
            <a:pPr algn="ctr" indent="0" marL="0">
              <a:buNone/>
            </a:pPr>
            <a:r>
              <a:rPr lang="en-US" sz="1800" b="1" dirty="0">
                <a:solidFill>
                  <a:srgbClr val="7FD9BC"/>
                </a:solidFill>
                <a:latin typeface="Arial" pitchFamily="34" charset="0"/>
                <a:ea typeface="Arial" pitchFamily="34" charset="-122"/>
                <a:cs typeface="Arial" pitchFamily="34" charset="-120"/>
              </a:rPr>
              <a:t>→</a:t>
            </a:r>
            <a:endParaRPr lang="en-US" sz="1800" dirty="0"/>
          </a:p>
        </p:txBody>
      </p:sp>
      <p:sp>
        <p:nvSpPr>
          <p:cNvPr id="25" name="Shape 23"/>
          <p:cNvSpPr/>
          <p:nvPr/>
        </p:nvSpPr>
        <p:spPr>
          <a:xfrm>
            <a:off x="6251296" y="3429000"/>
            <a:ext cx="2494712" cy="1024128"/>
          </a:xfrm>
          <a:prstGeom prst="roundRect">
            <a:avLst>
              <a:gd name="adj" fmla="val 8929"/>
            </a:avLst>
          </a:prstGeom>
          <a:solidFill>
            <a:srgbClr val="1C8C6E"/>
          </a:solidFill>
          <a:ln/>
        </p:spPr>
      </p:sp>
      <p:sp>
        <p:nvSpPr>
          <p:cNvPr id="26" name="Text 24"/>
          <p:cNvSpPr txBox="1"/>
          <p:nvPr/>
        </p:nvSpPr>
        <p:spPr>
          <a:xfrm>
            <a:off x="6361024" y="3429000"/>
            <a:ext cx="2275256" cy="102412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İNSAN ONAYI</a:t>
            </a:r>
            <a:endParaRPr lang="en-US" sz="1300" dirty="0"/>
          </a:p>
        </p:txBody>
      </p:sp>
      <p:sp>
        <p:nvSpPr>
          <p:cNvPr id="27" name="Text 25"/>
          <p:cNvSpPr txBox="1"/>
          <p:nvPr/>
        </p:nvSpPr>
        <p:spPr>
          <a:xfrm>
            <a:off x="8746007" y="3429000"/>
            <a:ext cx="310896" cy="1024128"/>
          </a:xfrm>
          <a:prstGeom prst="rect">
            <a:avLst/>
          </a:prstGeom>
          <a:noFill/>
          <a:ln/>
        </p:spPr>
        <p:txBody>
          <a:bodyPr wrap="square" lIns="0" tIns="0" rIns="0" bIns="0" rtlCol="0" anchor="ctr"/>
          <a:lstStyle/>
          <a:p>
            <a:pPr algn="ctr" indent="0" marL="0">
              <a:buNone/>
            </a:pPr>
            <a:r>
              <a:rPr lang="en-US" sz="1800" b="1" dirty="0">
                <a:solidFill>
                  <a:srgbClr val="7FD9BC"/>
                </a:solidFill>
                <a:latin typeface="Arial" pitchFamily="34" charset="0"/>
                <a:ea typeface="Arial" pitchFamily="34" charset="-122"/>
                <a:cs typeface="Arial" pitchFamily="34" charset="-120"/>
              </a:rPr>
              <a:t>→</a:t>
            </a:r>
            <a:endParaRPr lang="en-US" sz="1800" dirty="0"/>
          </a:p>
        </p:txBody>
      </p:sp>
      <p:sp>
        <p:nvSpPr>
          <p:cNvPr id="28" name="Shape 26"/>
          <p:cNvSpPr/>
          <p:nvPr/>
        </p:nvSpPr>
        <p:spPr>
          <a:xfrm>
            <a:off x="9056903" y="3429000"/>
            <a:ext cx="2494712" cy="1024128"/>
          </a:xfrm>
          <a:prstGeom prst="roundRect">
            <a:avLst>
              <a:gd name="adj" fmla="val 8929"/>
            </a:avLst>
          </a:prstGeom>
          <a:solidFill>
            <a:srgbClr val="1A3E52"/>
          </a:solidFill>
          <a:ln w="12700">
            <a:solidFill>
              <a:srgbClr val="2C5871"/>
            </a:solidFill>
            <a:prstDash val="solid"/>
          </a:ln>
        </p:spPr>
      </p:sp>
      <p:sp>
        <p:nvSpPr>
          <p:cNvPr id="29" name="Text 27"/>
          <p:cNvSpPr txBox="1"/>
          <p:nvPr/>
        </p:nvSpPr>
        <p:spPr>
          <a:xfrm>
            <a:off x="9166631" y="3429000"/>
            <a:ext cx="2275256" cy="1024128"/>
          </a:xfrm>
          <a:prstGeom prst="rect">
            <a:avLst/>
          </a:prstGeom>
          <a:noFill/>
          <a:ln/>
        </p:spPr>
        <p:txBody>
          <a:bodyPr wrap="square" lIns="0" tIns="0" rIns="0" bIns="0" rtlCol="0" anchor="ctr"/>
          <a:lstStyle/>
          <a:p>
            <a:pPr algn="ctr" indent="0" marL="0">
              <a:buNone/>
            </a:pPr>
            <a:r>
              <a:rPr lang="en-US" sz="1300" dirty="0">
                <a:solidFill>
                  <a:srgbClr val="FFFFFF"/>
                </a:solidFill>
                <a:latin typeface="Arial" pitchFamily="34" charset="0"/>
                <a:ea typeface="Arial" pitchFamily="34" charset="-122"/>
                <a:cs typeface="Arial" pitchFamily="34" charset="-120"/>
              </a:rPr>
              <a:t>Telegram mesajı</a:t>
            </a:r>
            <a:endParaRPr lang="en-US" sz="1300" dirty="0"/>
          </a:p>
        </p:txBody>
      </p:sp>
      <p:sp>
        <p:nvSpPr>
          <p:cNvPr id="30" name="Shape 28"/>
          <p:cNvSpPr/>
          <p:nvPr/>
        </p:nvSpPr>
        <p:spPr>
          <a:xfrm>
            <a:off x="640080" y="4956048"/>
            <a:ext cx="566928" cy="566928"/>
          </a:xfrm>
          <a:prstGeom prst="ellipse">
            <a:avLst/>
          </a:prstGeom>
          <a:solidFill>
            <a:srgbClr val="1C8C6E"/>
          </a:solidFill>
          <a:ln/>
        </p:spPr>
      </p:sp>
      <p:pic>
        <p:nvPicPr>
          <p:cNvPr id="31" name="Image 0" descr="preencoded.png">    </p:cNvPr>
          <p:cNvPicPr>
            <a:picLocks noChangeAspect="1"/>
          </p:cNvPicPr>
          <p:nvPr/>
        </p:nvPicPr>
        <p:blipFill>
          <a:blip r:embed="rId1"/>
          <a:stretch>
            <a:fillRect/>
          </a:stretch>
        </p:blipFill>
        <p:spPr>
          <a:xfrm>
            <a:off x="800100" y="5116068"/>
            <a:ext cx="246888" cy="246888"/>
          </a:xfrm>
          <a:prstGeom prst="rect">
            <a:avLst/>
          </a:prstGeom>
        </p:spPr>
      </p:pic>
      <p:sp>
        <p:nvSpPr>
          <p:cNvPr id="32" name="Text 29"/>
          <p:cNvSpPr txBox="1"/>
          <p:nvPr/>
        </p:nvSpPr>
        <p:spPr>
          <a:xfrm>
            <a:off x="1426464" y="4901184"/>
            <a:ext cx="10125151" cy="676656"/>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AI'a veritabanının anahtarını vermiyoruz.</a:t>
            </a:r>
            <a:endParaRPr lang="en-US" sz="2600" dirty="0"/>
          </a:p>
        </p:txBody>
      </p:sp>
      <p:sp>
        <p:nvSpPr>
          <p:cNvPr id="33" name="Text 30"/>
          <p:cNvSpPr txBox="1"/>
          <p:nvPr/>
        </p:nvSpPr>
        <p:spPr>
          <a:xfrm>
            <a:off x="1426464" y="5596128"/>
            <a:ext cx="10125151" cy="365760"/>
          </a:xfrm>
          <a:prstGeom prst="rect">
            <a:avLst/>
          </a:prstGeom>
          <a:noFill/>
          <a:ln/>
        </p:spPr>
        <p:txBody>
          <a:bodyPr wrap="square" lIns="0" tIns="0" rIns="0" bIns="0" rtlCol="0" anchor="ctr"/>
          <a:lstStyle/>
          <a:p>
            <a:pPr indent="0" marL="0">
              <a:buNone/>
            </a:pPr>
            <a:r>
              <a:rPr lang="en-US" sz="1400" dirty="0">
                <a:solidFill>
                  <a:srgbClr val="C9DEE6"/>
                </a:solidFill>
                <a:latin typeface="Arial" pitchFamily="34" charset="0"/>
                <a:ea typeface="Arial" pitchFamily="34" charset="-122"/>
                <a:cs typeface="Arial" pitchFamily="34" charset="-120"/>
              </a:rPr>
              <a:t>Ajan hiçbir mesajı onaysız göndermez; asistan veritabanına yalnız okur.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AF5F1"/>
        </a:solidFill>
      </p:bgPr>
    </p:bg>
    <p:spTree>
      <p:nvGrpSpPr>
        <p:cNvPr id="1" name=""/>
        <p:cNvGrpSpPr/>
        <p:nvPr/>
      </p:nvGrpSpPr>
      <p:grpSpPr>
        <a:xfrm>
          <a:off x="0" y="0"/>
          <a:ext cx="0" cy="0"/>
          <a:chOff x="0" y="0"/>
          <a:chExt cx="0" cy="0"/>
        </a:xfrm>
      </p:grpSpPr>
      <p:sp>
        <p:nvSpPr>
          <p:cNvPr id="2" name="Text 0"/>
          <p:cNvSpPr txBox="1"/>
          <p:nvPr/>
        </p:nvSpPr>
        <p:spPr>
          <a:xfrm>
            <a:off x="640080" y="475488"/>
            <a:ext cx="10911535" cy="292608"/>
          </a:xfrm>
          <a:prstGeom prst="rect">
            <a:avLst/>
          </a:prstGeom>
          <a:noFill/>
          <a:ln/>
        </p:spPr>
        <p:txBody>
          <a:bodyPr wrap="square" lIns="0" tIns="0" rIns="0" bIns="0" rtlCol="0" anchor="ctr"/>
          <a:lstStyle/>
          <a:p>
            <a:pPr indent="0" marL="0">
              <a:buNone/>
            </a:pPr>
            <a:r>
              <a:rPr lang="en-US" sz="1300" b="1" spc="250" kern="0" dirty="0">
                <a:solidFill>
                  <a:srgbClr val="1C8C6E"/>
                </a:solidFill>
                <a:latin typeface="Arial" pitchFamily="34" charset="0"/>
                <a:ea typeface="Arial" pitchFamily="34" charset="-122"/>
                <a:cs typeface="Arial" pitchFamily="34" charset="-120"/>
              </a:rPr>
              <a:t>CANLI DEMO</a:t>
            </a:r>
            <a:endParaRPr lang="en-US" sz="1300" dirty="0"/>
          </a:p>
        </p:txBody>
      </p:sp>
      <p:sp>
        <p:nvSpPr>
          <p:cNvPr id="3" name="Text 1"/>
          <p:cNvSpPr txBox="1"/>
          <p:nvPr/>
        </p:nvSpPr>
        <p:spPr>
          <a:xfrm>
            <a:off x="640080" y="804672"/>
            <a:ext cx="10911535" cy="822960"/>
          </a:xfrm>
          <a:prstGeom prst="rect">
            <a:avLst/>
          </a:prstGeom>
          <a:noFill/>
          <a:ln/>
        </p:spPr>
        <p:txBody>
          <a:bodyPr wrap="square" lIns="0" tIns="0" rIns="0" bIns="0" rtlCol="0" anchor="ctr"/>
          <a:lstStyle/>
          <a:p>
            <a:pPr indent="0" marL="0">
              <a:buNone/>
            </a:pPr>
            <a:r>
              <a:rPr lang="en-US" sz="4600" b="1" dirty="0">
                <a:solidFill>
                  <a:srgbClr val="12303F"/>
                </a:solidFill>
                <a:latin typeface="Arial" pitchFamily="34" charset="0"/>
                <a:ea typeface="Arial" pitchFamily="34" charset="-122"/>
                <a:cs typeface="Arial" pitchFamily="34" charset="-120"/>
              </a:rPr>
              <a:t>Sor. Gör. Onayla.</a:t>
            </a:r>
            <a:endParaRPr lang="en-US" sz="4600" dirty="0"/>
          </a:p>
        </p:txBody>
      </p:sp>
      <p:sp>
        <p:nvSpPr>
          <p:cNvPr id="4" name="Text 2"/>
          <p:cNvSpPr txBox="1"/>
          <p:nvPr/>
        </p:nvSpPr>
        <p:spPr>
          <a:xfrm>
            <a:off x="640080" y="1664208"/>
            <a:ext cx="10911535" cy="411480"/>
          </a:xfrm>
          <a:prstGeom prst="rect">
            <a:avLst/>
          </a:prstGeom>
          <a:noFill/>
          <a:ln/>
        </p:spPr>
        <p:txBody>
          <a:bodyPr wrap="square" lIns="0" tIns="0" rIns="0" bIns="0" rtlCol="0" anchor="ctr"/>
          <a:lstStyle/>
          <a:p>
            <a:pPr indent="0" marL="0">
              <a:buNone/>
            </a:pPr>
            <a:r>
              <a:rPr lang="en-US" sz="1700" dirty="0">
                <a:solidFill>
                  <a:srgbClr val="3C5563"/>
                </a:solidFill>
                <a:latin typeface="Arial" pitchFamily="34" charset="0"/>
                <a:ea typeface="Arial" pitchFamily="34" charset="-122"/>
                <a:cs typeface="Arial" pitchFamily="34" charset="-120"/>
              </a:rPr>
              <a:t>Türkçe soru → görünen sorgu → insan onaylı sipariş mesajı.</a:t>
            </a:r>
            <a:endParaRPr lang="en-US" sz="1700" dirty="0"/>
          </a:p>
        </p:txBody>
      </p:sp>
      <p:sp>
        <p:nvSpPr>
          <p:cNvPr id="5" name="Shape 3"/>
          <p:cNvSpPr/>
          <p:nvPr/>
        </p:nvSpPr>
        <p:spPr>
          <a:xfrm>
            <a:off x="585216" y="2249424"/>
            <a:ext cx="5394960" cy="2851442"/>
          </a:xfrm>
          <a:prstGeom prst="roundRect">
            <a:avLst>
              <a:gd name="adj" fmla="val 1924"/>
            </a:avLst>
          </a:prstGeom>
          <a:solidFill>
            <a:srgbClr val="FFFFFF"/>
          </a:solidFill>
          <a:ln w="12700">
            <a:solidFill>
              <a:srgbClr val="D3E4DD"/>
            </a:solidFill>
            <a:prstDash val="solid"/>
          </a:ln>
          <a:effectLst>
            <a:outerShdw sx="100000" sy="100000" kx="0" ky="0" algn="bl" rotWithShape="0" blurRad="127000" dist="25400" dir="5400000">
              <a:srgbClr val="0F2A3C">
                <a:alpha val="10000"/>
              </a:srgbClr>
            </a:outerShdw>
          </a:effectLst>
        </p:spPr>
      </p:sp>
      <p:pic>
        <p:nvPicPr>
          <p:cNvPr id="6" name="Image 0" descr="/private/tmp/claude-501/-Users-muratates/5f4d8f04-f5b5-43b2-90a2-3242d6dc5e49/scratchpad/deck/img/asistan-crop.png">    </p:cNvPr>
          <p:cNvPicPr>
            <a:picLocks noChangeAspect="1"/>
          </p:cNvPicPr>
          <p:nvPr/>
        </p:nvPicPr>
        <p:blipFill>
          <a:blip r:embed="rId1"/>
          <a:stretch>
            <a:fillRect/>
          </a:stretch>
        </p:blipFill>
        <p:spPr>
          <a:xfrm>
            <a:off x="640080" y="2304288"/>
            <a:ext cx="5285232" cy="2741714"/>
          </a:xfrm>
          <a:prstGeom prst="rect">
            <a:avLst/>
          </a:prstGeom>
        </p:spPr>
      </p:pic>
      <p:sp>
        <p:nvSpPr>
          <p:cNvPr id="7" name="Text 4"/>
          <p:cNvSpPr txBox="1"/>
          <p:nvPr/>
        </p:nvSpPr>
        <p:spPr>
          <a:xfrm>
            <a:off x="640080" y="5228882"/>
            <a:ext cx="5285232" cy="320040"/>
          </a:xfrm>
          <a:prstGeom prst="rect">
            <a:avLst/>
          </a:prstGeom>
          <a:noFill/>
          <a:ln/>
        </p:spPr>
        <p:txBody>
          <a:bodyPr wrap="square" lIns="0" tIns="0" rIns="0" bIns="0" rtlCol="0" anchor="ctr"/>
          <a:lstStyle/>
          <a:p>
            <a:pPr indent="0" marL="0">
              <a:buNone/>
            </a:pPr>
            <a:r>
              <a:rPr lang="en-US" sz="1300" b="1" dirty="0">
                <a:solidFill>
                  <a:srgbClr val="12303F"/>
                </a:solidFill>
                <a:latin typeface="Arial" pitchFamily="34" charset="0"/>
                <a:ea typeface="Arial" pitchFamily="34" charset="-122"/>
                <a:cs typeface="Arial" pitchFamily="34" charset="-120"/>
              </a:rPr>
              <a:t>Asistan — soru, yanıt ve görünen SQL</a:t>
            </a:r>
            <a:endParaRPr lang="en-US" sz="1300" dirty="0"/>
          </a:p>
        </p:txBody>
      </p:sp>
      <p:sp>
        <p:nvSpPr>
          <p:cNvPr id="8" name="Shape 5"/>
          <p:cNvSpPr/>
          <p:nvPr/>
        </p:nvSpPr>
        <p:spPr>
          <a:xfrm>
            <a:off x="6208776" y="2249424"/>
            <a:ext cx="5394960" cy="2851442"/>
          </a:xfrm>
          <a:prstGeom prst="roundRect">
            <a:avLst>
              <a:gd name="adj" fmla="val 1924"/>
            </a:avLst>
          </a:prstGeom>
          <a:solidFill>
            <a:srgbClr val="FFFFFF"/>
          </a:solidFill>
          <a:ln w="12700">
            <a:solidFill>
              <a:srgbClr val="D3E4DD"/>
            </a:solidFill>
            <a:prstDash val="solid"/>
          </a:ln>
          <a:effectLst>
            <a:outerShdw sx="100000" sy="100000" kx="0" ky="0" algn="bl" rotWithShape="0" blurRad="127000" dist="25400" dir="5400000">
              <a:srgbClr val="0F2A3C">
                <a:alpha val="10000"/>
              </a:srgbClr>
            </a:outerShdw>
          </a:effectLst>
        </p:spPr>
      </p:sp>
      <p:pic>
        <p:nvPicPr>
          <p:cNvPr id="9" name="Image 1" descr="/private/tmp/claude-501/-Users-muratates/5f4d8f04-f5b5-43b2-90a2-3242d6dc5e49/scratchpad/deck/img/tedarik-crop.png">    </p:cNvPr>
          <p:cNvPicPr>
            <a:picLocks noChangeAspect="1"/>
          </p:cNvPicPr>
          <p:nvPr/>
        </p:nvPicPr>
        <p:blipFill>
          <a:blip r:embed="rId2"/>
          <a:stretch>
            <a:fillRect/>
          </a:stretch>
        </p:blipFill>
        <p:spPr>
          <a:xfrm>
            <a:off x="6263640" y="2304288"/>
            <a:ext cx="5285232" cy="2741714"/>
          </a:xfrm>
          <a:prstGeom prst="rect">
            <a:avLst/>
          </a:prstGeom>
        </p:spPr>
      </p:pic>
      <p:sp>
        <p:nvSpPr>
          <p:cNvPr id="10" name="Text 6"/>
          <p:cNvSpPr txBox="1"/>
          <p:nvPr/>
        </p:nvSpPr>
        <p:spPr>
          <a:xfrm>
            <a:off x="6263640" y="5228882"/>
            <a:ext cx="5285232" cy="320040"/>
          </a:xfrm>
          <a:prstGeom prst="rect">
            <a:avLst/>
          </a:prstGeom>
          <a:noFill/>
          <a:ln/>
        </p:spPr>
        <p:txBody>
          <a:bodyPr wrap="square" lIns="0" tIns="0" rIns="0" bIns="0" rtlCol="0" anchor="ctr"/>
          <a:lstStyle/>
          <a:p>
            <a:pPr indent="0" marL="0">
              <a:buNone/>
            </a:pPr>
            <a:r>
              <a:rPr lang="en-US" sz="1300" b="1" dirty="0">
                <a:solidFill>
                  <a:srgbClr val="12303F"/>
                </a:solidFill>
                <a:latin typeface="Arial" pitchFamily="34" charset="0"/>
                <a:ea typeface="Arial" pitchFamily="34" charset="-122"/>
                <a:cs typeface="Arial" pitchFamily="34" charset="-120"/>
              </a:rPr>
              <a:t>Tedarik — taslak, onay, Telegram</a:t>
            </a:r>
            <a:endParaRPr lang="en-US" sz="1300" dirty="0"/>
          </a:p>
        </p:txBody>
      </p:sp>
      <p:sp>
        <p:nvSpPr>
          <p:cNvPr id="11" name="Text 7"/>
          <p:cNvSpPr txBox="1"/>
          <p:nvPr/>
        </p:nvSpPr>
        <p:spPr>
          <a:xfrm>
            <a:off x="640080" y="5943600"/>
            <a:ext cx="10911535" cy="320040"/>
          </a:xfrm>
          <a:prstGeom prst="rect">
            <a:avLst/>
          </a:prstGeom>
          <a:noFill/>
          <a:ln/>
        </p:spPr>
        <p:txBody>
          <a:bodyPr wrap="square" lIns="0" tIns="0" rIns="0" bIns="0" rtlCol="0" anchor="ctr"/>
          <a:lstStyle/>
          <a:p>
            <a:pPr indent="0" marL="0">
              <a:buNone/>
            </a:pPr>
            <a:r>
              <a:rPr lang="en-US" sz="1100" dirty="0">
                <a:solidFill>
                  <a:srgbClr val="3C5563"/>
                </a:solidFill>
                <a:latin typeface="Arial" pitchFamily="34" charset="0"/>
                <a:ea typeface="Arial" pitchFamily="34" charset="-122"/>
                <a:cs typeface="Arial" pitchFamily="34" charset="-120"/>
              </a:rPr>
              <a:t>Sentetik demo verisi · Nisan–Eylül 2026 · "Gönderildi" mesaj gönderimidir, teslim alındı değildir.</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685800"/>
          </a:xfrm>
          <a:prstGeom prst="rect">
            <a:avLst/>
          </a:prstGeom>
          <a:noFill/>
          <a:ln/>
        </p:spPr>
        <p:txBody>
          <a:bodyPr wrap="square" lIns="0" tIns="0" rIns="0" bIns="0" rtlCol="0" anchor="ctr"/>
          <a:lstStyle/>
          <a:p>
            <a:pPr indent="0" marL="0">
              <a:buNone/>
            </a:pPr>
            <a:r>
              <a:rPr lang="en-US" sz="3800" b="1" dirty="0">
                <a:solidFill>
                  <a:srgbClr val="12303F"/>
                </a:solidFill>
                <a:latin typeface="Arial" pitchFamily="34" charset="0"/>
                <a:ea typeface="Arial" pitchFamily="34" charset="-122"/>
                <a:cs typeface="Arial" pitchFamily="34" charset="-120"/>
              </a:rPr>
              <a:t>Teknoloji ve yöntem</a:t>
            </a:r>
            <a:endParaRPr lang="en-US" sz="3800" dirty="0"/>
          </a:p>
        </p:txBody>
      </p:sp>
      <p:sp>
        <p:nvSpPr>
          <p:cNvPr id="3" name="Shape 1"/>
          <p:cNvSpPr/>
          <p:nvPr/>
        </p:nvSpPr>
        <p:spPr>
          <a:xfrm>
            <a:off x="640080" y="1508760"/>
            <a:ext cx="2535860" cy="868680"/>
          </a:xfrm>
          <a:prstGeom prst="roundRect">
            <a:avLst>
              <a:gd name="adj" fmla="val 10526"/>
            </a:avLst>
          </a:prstGeom>
          <a:solidFill>
            <a:srgbClr val="EAF5F1"/>
          </a:solidFill>
          <a:ln w="12700">
            <a:solidFill>
              <a:srgbClr val="D3E4DD"/>
            </a:solidFill>
            <a:prstDash val="solid"/>
          </a:ln>
        </p:spPr>
      </p:sp>
      <p:sp>
        <p:nvSpPr>
          <p:cNvPr id="4" name="Text 2"/>
          <p:cNvSpPr txBox="1"/>
          <p:nvPr/>
        </p:nvSpPr>
        <p:spPr>
          <a:xfrm>
            <a:off x="822960" y="1664208"/>
            <a:ext cx="2170100" cy="329184"/>
          </a:xfrm>
          <a:prstGeom prst="rect">
            <a:avLst/>
          </a:prstGeom>
          <a:noFill/>
          <a:ln/>
        </p:spPr>
        <p:txBody>
          <a:bodyPr wrap="square" lIns="0" tIns="0" rIns="0" bIns="0" rtlCol="0" anchor="ctr"/>
          <a:lstStyle/>
          <a:p>
            <a:pPr indent="0" marL="0">
              <a:buNone/>
            </a:pPr>
            <a:r>
              <a:rPr lang="en-US" sz="1500" b="1" dirty="0">
                <a:solidFill>
                  <a:srgbClr val="12303F"/>
                </a:solidFill>
                <a:latin typeface="Arial" pitchFamily="34" charset="0"/>
                <a:ea typeface="Arial" pitchFamily="34" charset="-122"/>
                <a:cs typeface="Arial" pitchFamily="34" charset="-120"/>
              </a:rPr>
              <a:t>Next.js 16</a:t>
            </a:r>
            <a:endParaRPr lang="en-US" sz="1500" dirty="0"/>
          </a:p>
        </p:txBody>
      </p:sp>
      <p:sp>
        <p:nvSpPr>
          <p:cNvPr id="5" name="Text 3"/>
          <p:cNvSpPr txBox="1"/>
          <p:nvPr/>
        </p:nvSpPr>
        <p:spPr>
          <a:xfrm>
            <a:off x="822960" y="1993392"/>
            <a:ext cx="2170100" cy="274320"/>
          </a:xfrm>
          <a:prstGeom prst="rect">
            <a:avLst/>
          </a:prstGeom>
          <a:noFill/>
          <a:ln/>
        </p:spPr>
        <p:txBody>
          <a:bodyPr wrap="square" lIns="0" tIns="0" rIns="0" bIns="0" rtlCol="0" anchor="ctr"/>
          <a:lstStyle/>
          <a:p>
            <a:pPr indent="0" marL="0">
              <a:buNone/>
            </a:pPr>
            <a:r>
              <a:rPr lang="en-US" sz="1100" dirty="0">
                <a:solidFill>
                  <a:srgbClr val="3C5563"/>
                </a:solidFill>
                <a:latin typeface="Arial" pitchFamily="34" charset="0"/>
                <a:ea typeface="Arial" pitchFamily="34" charset="-122"/>
                <a:cs typeface="Arial" pitchFamily="34" charset="-120"/>
              </a:rPr>
              <a:t>web arayüzü</a:t>
            </a:r>
            <a:endParaRPr lang="en-US" sz="1100" dirty="0"/>
          </a:p>
        </p:txBody>
      </p:sp>
      <p:sp>
        <p:nvSpPr>
          <p:cNvPr id="6" name="Shape 4"/>
          <p:cNvSpPr/>
          <p:nvPr/>
        </p:nvSpPr>
        <p:spPr>
          <a:xfrm>
            <a:off x="3431972" y="1508760"/>
            <a:ext cx="2535860" cy="868680"/>
          </a:xfrm>
          <a:prstGeom prst="roundRect">
            <a:avLst>
              <a:gd name="adj" fmla="val 10526"/>
            </a:avLst>
          </a:prstGeom>
          <a:solidFill>
            <a:srgbClr val="EAF5F1"/>
          </a:solidFill>
          <a:ln w="12700">
            <a:solidFill>
              <a:srgbClr val="D3E4DD"/>
            </a:solidFill>
            <a:prstDash val="solid"/>
          </a:ln>
        </p:spPr>
      </p:sp>
      <p:sp>
        <p:nvSpPr>
          <p:cNvPr id="7" name="Text 5"/>
          <p:cNvSpPr txBox="1"/>
          <p:nvPr/>
        </p:nvSpPr>
        <p:spPr>
          <a:xfrm>
            <a:off x="3614852" y="1664208"/>
            <a:ext cx="2170100" cy="329184"/>
          </a:xfrm>
          <a:prstGeom prst="rect">
            <a:avLst/>
          </a:prstGeom>
          <a:noFill/>
          <a:ln/>
        </p:spPr>
        <p:txBody>
          <a:bodyPr wrap="square" lIns="0" tIns="0" rIns="0" bIns="0" rtlCol="0" anchor="ctr"/>
          <a:lstStyle/>
          <a:p>
            <a:pPr indent="0" marL="0">
              <a:buNone/>
            </a:pPr>
            <a:r>
              <a:rPr lang="en-US" sz="1500" b="1" dirty="0">
                <a:solidFill>
                  <a:srgbClr val="12303F"/>
                </a:solidFill>
                <a:latin typeface="Arial" pitchFamily="34" charset="0"/>
                <a:ea typeface="Arial" pitchFamily="34" charset="-122"/>
                <a:cs typeface="Arial" pitchFamily="34" charset="-120"/>
              </a:rPr>
              <a:t>FastAPI</a:t>
            </a:r>
            <a:endParaRPr lang="en-US" sz="1500" dirty="0"/>
          </a:p>
        </p:txBody>
      </p:sp>
      <p:sp>
        <p:nvSpPr>
          <p:cNvPr id="8" name="Text 6"/>
          <p:cNvSpPr txBox="1"/>
          <p:nvPr/>
        </p:nvSpPr>
        <p:spPr>
          <a:xfrm>
            <a:off x="3614852" y="1993392"/>
            <a:ext cx="2170100" cy="274320"/>
          </a:xfrm>
          <a:prstGeom prst="rect">
            <a:avLst/>
          </a:prstGeom>
          <a:noFill/>
          <a:ln/>
        </p:spPr>
        <p:txBody>
          <a:bodyPr wrap="square" lIns="0" tIns="0" rIns="0" bIns="0" rtlCol="0" anchor="ctr"/>
          <a:lstStyle/>
          <a:p>
            <a:pPr indent="0" marL="0">
              <a:buNone/>
            </a:pPr>
            <a:r>
              <a:rPr lang="en-US" sz="1100" dirty="0">
                <a:solidFill>
                  <a:srgbClr val="3C5563"/>
                </a:solidFill>
                <a:latin typeface="Arial" pitchFamily="34" charset="0"/>
                <a:ea typeface="Arial" pitchFamily="34" charset="-122"/>
                <a:cs typeface="Arial" pitchFamily="34" charset="-120"/>
              </a:rPr>
              <a:t>Python 3.12 API</a:t>
            </a:r>
            <a:endParaRPr lang="en-US" sz="1100" dirty="0"/>
          </a:p>
        </p:txBody>
      </p:sp>
      <p:sp>
        <p:nvSpPr>
          <p:cNvPr id="9" name="Shape 7"/>
          <p:cNvSpPr/>
          <p:nvPr/>
        </p:nvSpPr>
        <p:spPr>
          <a:xfrm>
            <a:off x="6223864" y="1508760"/>
            <a:ext cx="2535860" cy="868680"/>
          </a:xfrm>
          <a:prstGeom prst="roundRect">
            <a:avLst>
              <a:gd name="adj" fmla="val 10526"/>
            </a:avLst>
          </a:prstGeom>
          <a:solidFill>
            <a:srgbClr val="EAF5F1"/>
          </a:solidFill>
          <a:ln w="12700">
            <a:solidFill>
              <a:srgbClr val="D3E4DD"/>
            </a:solidFill>
            <a:prstDash val="solid"/>
          </a:ln>
        </p:spPr>
      </p:sp>
      <p:sp>
        <p:nvSpPr>
          <p:cNvPr id="10" name="Text 8"/>
          <p:cNvSpPr txBox="1"/>
          <p:nvPr/>
        </p:nvSpPr>
        <p:spPr>
          <a:xfrm>
            <a:off x="6406744" y="1664208"/>
            <a:ext cx="2170100" cy="329184"/>
          </a:xfrm>
          <a:prstGeom prst="rect">
            <a:avLst/>
          </a:prstGeom>
          <a:noFill/>
          <a:ln/>
        </p:spPr>
        <p:txBody>
          <a:bodyPr wrap="square" lIns="0" tIns="0" rIns="0" bIns="0" rtlCol="0" anchor="ctr"/>
          <a:lstStyle/>
          <a:p>
            <a:pPr indent="0" marL="0">
              <a:buNone/>
            </a:pPr>
            <a:r>
              <a:rPr lang="en-US" sz="1500" b="1" dirty="0">
                <a:solidFill>
                  <a:srgbClr val="12303F"/>
                </a:solidFill>
                <a:latin typeface="Arial" pitchFamily="34" charset="0"/>
                <a:ea typeface="Arial" pitchFamily="34" charset="-122"/>
                <a:cs typeface="Arial" pitchFamily="34" charset="-120"/>
              </a:rPr>
              <a:t>PostgreSQL (Neon)</a:t>
            </a:r>
            <a:endParaRPr lang="en-US" sz="1500" dirty="0"/>
          </a:p>
        </p:txBody>
      </p:sp>
      <p:sp>
        <p:nvSpPr>
          <p:cNvPr id="11" name="Text 9"/>
          <p:cNvSpPr txBox="1"/>
          <p:nvPr/>
        </p:nvSpPr>
        <p:spPr>
          <a:xfrm>
            <a:off x="6406744" y="1993392"/>
            <a:ext cx="2170100" cy="274320"/>
          </a:xfrm>
          <a:prstGeom prst="rect">
            <a:avLst/>
          </a:prstGeom>
          <a:noFill/>
          <a:ln/>
        </p:spPr>
        <p:txBody>
          <a:bodyPr wrap="square" lIns="0" tIns="0" rIns="0" bIns="0" rtlCol="0" anchor="ctr"/>
          <a:lstStyle/>
          <a:p>
            <a:pPr indent="0" marL="0">
              <a:buNone/>
            </a:pPr>
            <a:r>
              <a:rPr lang="en-US" sz="1100" dirty="0">
                <a:solidFill>
                  <a:srgbClr val="3C5563"/>
                </a:solidFill>
                <a:latin typeface="Arial" pitchFamily="34" charset="0"/>
                <a:ea typeface="Arial" pitchFamily="34" charset="-122"/>
                <a:cs typeface="Arial" pitchFamily="34" charset="-120"/>
              </a:rPr>
              <a:t>yönetilen veritabanı</a:t>
            </a:r>
            <a:endParaRPr lang="en-US" sz="1100" dirty="0"/>
          </a:p>
        </p:txBody>
      </p:sp>
      <p:sp>
        <p:nvSpPr>
          <p:cNvPr id="12" name="Shape 10"/>
          <p:cNvSpPr/>
          <p:nvPr/>
        </p:nvSpPr>
        <p:spPr>
          <a:xfrm>
            <a:off x="9015755" y="1508760"/>
            <a:ext cx="2535860" cy="868680"/>
          </a:xfrm>
          <a:prstGeom prst="roundRect">
            <a:avLst>
              <a:gd name="adj" fmla="val 10526"/>
            </a:avLst>
          </a:prstGeom>
          <a:solidFill>
            <a:srgbClr val="EAF5F1"/>
          </a:solidFill>
          <a:ln w="12700">
            <a:solidFill>
              <a:srgbClr val="D3E4DD"/>
            </a:solidFill>
            <a:prstDash val="solid"/>
          </a:ln>
        </p:spPr>
      </p:sp>
      <p:sp>
        <p:nvSpPr>
          <p:cNvPr id="13" name="Text 11"/>
          <p:cNvSpPr txBox="1"/>
          <p:nvPr/>
        </p:nvSpPr>
        <p:spPr>
          <a:xfrm>
            <a:off x="9198635" y="1664208"/>
            <a:ext cx="2170100" cy="329184"/>
          </a:xfrm>
          <a:prstGeom prst="rect">
            <a:avLst/>
          </a:prstGeom>
          <a:noFill/>
          <a:ln/>
        </p:spPr>
        <p:txBody>
          <a:bodyPr wrap="square" lIns="0" tIns="0" rIns="0" bIns="0" rtlCol="0" anchor="ctr"/>
          <a:lstStyle/>
          <a:p>
            <a:pPr indent="0" marL="0">
              <a:buNone/>
            </a:pPr>
            <a:r>
              <a:rPr lang="en-US" sz="1500" b="1" dirty="0">
                <a:solidFill>
                  <a:srgbClr val="12303F"/>
                </a:solidFill>
                <a:latin typeface="Arial" pitchFamily="34" charset="0"/>
                <a:ea typeface="Arial" pitchFamily="34" charset="-122"/>
                <a:cs typeface="Arial" pitchFamily="34" charset="-120"/>
              </a:rPr>
              <a:t>sqlglot guard</a:t>
            </a:r>
            <a:endParaRPr lang="en-US" sz="1500" dirty="0"/>
          </a:p>
        </p:txBody>
      </p:sp>
      <p:sp>
        <p:nvSpPr>
          <p:cNvPr id="14" name="Text 12"/>
          <p:cNvSpPr txBox="1"/>
          <p:nvPr/>
        </p:nvSpPr>
        <p:spPr>
          <a:xfrm>
            <a:off x="9198635" y="1993392"/>
            <a:ext cx="2170100" cy="274320"/>
          </a:xfrm>
          <a:prstGeom prst="rect">
            <a:avLst/>
          </a:prstGeom>
          <a:noFill/>
          <a:ln/>
        </p:spPr>
        <p:txBody>
          <a:bodyPr wrap="square" lIns="0" tIns="0" rIns="0" bIns="0" rtlCol="0" anchor="ctr"/>
          <a:lstStyle/>
          <a:p>
            <a:pPr indent="0" marL="0">
              <a:buNone/>
            </a:pPr>
            <a:r>
              <a:rPr lang="en-US" sz="1100" dirty="0">
                <a:solidFill>
                  <a:srgbClr val="3C5563"/>
                </a:solidFill>
                <a:latin typeface="Arial" pitchFamily="34" charset="0"/>
                <a:ea typeface="Arial" pitchFamily="34" charset="-122"/>
                <a:cs typeface="Arial" pitchFamily="34" charset="-120"/>
              </a:rPr>
              <a:t>SQL beyaz listesi</a:t>
            </a:r>
            <a:endParaRPr lang="en-US" sz="1100" dirty="0"/>
          </a:p>
        </p:txBody>
      </p:sp>
      <p:sp>
        <p:nvSpPr>
          <p:cNvPr id="15" name="Shape 13"/>
          <p:cNvSpPr/>
          <p:nvPr/>
        </p:nvSpPr>
        <p:spPr>
          <a:xfrm>
            <a:off x="640080" y="2633472"/>
            <a:ext cx="2535860" cy="868680"/>
          </a:xfrm>
          <a:prstGeom prst="roundRect">
            <a:avLst>
              <a:gd name="adj" fmla="val 10526"/>
            </a:avLst>
          </a:prstGeom>
          <a:solidFill>
            <a:srgbClr val="EAF5F1"/>
          </a:solidFill>
          <a:ln w="12700">
            <a:solidFill>
              <a:srgbClr val="D3E4DD"/>
            </a:solidFill>
            <a:prstDash val="solid"/>
          </a:ln>
        </p:spPr>
      </p:sp>
      <p:sp>
        <p:nvSpPr>
          <p:cNvPr id="16" name="Text 14"/>
          <p:cNvSpPr txBox="1"/>
          <p:nvPr/>
        </p:nvSpPr>
        <p:spPr>
          <a:xfrm>
            <a:off x="822960" y="2788920"/>
            <a:ext cx="2170100" cy="329184"/>
          </a:xfrm>
          <a:prstGeom prst="rect">
            <a:avLst/>
          </a:prstGeom>
          <a:noFill/>
          <a:ln/>
        </p:spPr>
        <p:txBody>
          <a:bodyPr wrap="square" lIns="0" tIns="0" rIns="0" bIns="0" rtlCol="0" anchor="ctr"/>
          <a:lstStyle/>
          <a:p>
            <a:pPr indent="0" marL="0">
              <a:buNone/>
            </a:pPr>
            <a:r>
              <a:rPr lang="en-US" sz="1500" b="1" dirty="0">
                <a:solidFill>
                  <a:srgbClr val="12303F"/>
                </a:solidFill>
                <a:latin typeface="Arial" pitchFamily="34" charset="0"/>
                <a:ea typeface="Arial" pitchFamily="34" charset="-122"/>
                <a:cs typeface="Arial" pitchFamily="34" charset="-120"/>
              </a:rPr>
              <a:t>APScheduler</a:t>
            </a:r>
            <a:endParaRPr lang="en-US" sz="1500" dirty="0"/>
          </a:p>
        </p:txBody>
      </p:sp>
      <p:sp>
        <p:nvSpPr>
          <p:cNvPr id="17" name="Text 15"/>
          <p:cNvSpPr txBox="1"/>
          <p:nvPr/>
        </p:nvSpPr>
        <p:spPr>
          <a:xfrm>
            <a:off x="822960" y="3118104"/>
            <a:ext cx="2170100" cy="274320"/>
          </a:xfrm>
          <a:prstGeom prst="rect">
            <a:avLst/>
          </a:prstGeom>
          <a:noFill/>
          <a:ln/>
        </p:spPr>
        <p:txBody>
          <a:bodyPr wrap="square" lIns="0" tIns="0" rIns="0" bIns="0" rtlCol="0" anchor="ctr"/>
          <a:lstStyle/>
          <a:p>
            <a:pPr indent="0" marL="0">
              <a:buNone/>
            </a:pPr>
            <a:r>
              <a:rPr lang="en-US" sz="1100" dirty="0">
                <a:solidFill>
                  <a:srgbClr val="3C5563"/>
                </a:solidFill>
                <a:latin typeface="Arial" pitchFamily="34" charset="0"/>
                <a:ea typeface="Arial" pitchFamily="34" charset="-122"/>
                <a:cs typeface="Arial" pitchFamily="34" charset="-120"/>
              </a:rPr>
              <a:t>stok kontrol döngüsü</a:t>
            </a:r>
            <a:endParaRPr lang="en-US" sz="1100" dirty="0"/>
          </a:p>
        </p:txBody>
      </p:sp>
      <p:sp>
        <p:nvSpPr>
          <p:cNvPr id="18" name="Shape 16"/>
          <p:cNvSpPr/>
          <p:nvPr/>
        </p:nvSpPr>
        <p:spPr>
          <a:xfrm>
            <a:off x="3431972" y="2633472"/>
            <a:ext cx="2535860" cy="868680"/>
          </a:xfrm>
          <a:prstGeom prst="roundRect">
            <a:avLst>
              <a:gd name="adj" fmla="val 10526"/>
            </a:avLst>
          </a:prstGeom>
          <a:solidFill>
            <a:srgbClr val="EAF5F1"/>
          </a:solidFill>
          <a:ln w="12700">
            <a:solidFill>
              <a:srgbClr val="D3E4DD"/>
            </a:solidFill>
            <a:prstDash val="solid"/>
          </a:ln>
        </p:spPr>
      </p:sp>
      <p:sp>
        <p:nvSpPr>
          <p:cNvPr id="19" name="Text 17"/>
          <p:cNvSpPr txBox="1"/>
          <p:nvPr/>
        </p:nvSpPr>
        <p:spPr>
          <a:xfrm>
            <a:off x="3614852" y="2788920"/>
            <a:ext cx="2170100" cy="329184"/>
          </a:xfrm>
          <a:prstGeom prst="rect">
            <a:avLst/>
          </a:prstGeom>
          <a:noFill/>
          <a:ln/>
        </p:spPr>
        <p:txBody>
          <a:bodyPr wrap="square" lIns="0" tIns="0" rIns="0" bIns="0" rtlCol="0" anchor="ctr"/>
          <a:lstStyle/>
          <a:p>
            <a:pPr indent="0" marL="0">
              <a:buNone/>
            </a:pPr>
            <a:r>
              <a:rPr lang="en-US" sz="1500" b="1" dirty="0">
                <a:solidFill>
                  <a:srgbClr val="12303F"/>
                </a:solidFill>
                <a:latin typeface="Arial" pitchFamily="34" charset="0"/>
                <a:ea typeface="Arial" pitchFamily="34" charset="-122"/>
                <a:cs typeface="Arial" pitchFamily="34" charset="-120"/>
              </a:rPr>
              <a:t>Telegram Bot API</a:t>
            </a:r>
            <a:endParaRPr lang="en-US" sz="1500" dirty="0"/>
          </a:p>
        </p:txBody>
      </p:sp>
      <p:sp>
        <p:nvSpPr>
          <p:cNvPr id="20" name="Text 18"/>
          <p:cNvSpPr txBox="1"/>
          <p:nvPr/>
        </p:nvSpPr>
        <p:spPr>
          <a:xfrm>
            <a:off x="3614852" y="3118104"/>
            <a:ext cx="2170100" cy="274320"/>
          </a:xfrm>
          <a:prstGeom prst="rect">
            <a:avLst/>
          </a:prstGeom>
          <a:noFill/>
          <a:ln/>
        </p:spPr>
        <p:txBody>
          <a:bodyPr wrap="square" lIns="0" tIns="0" rIns="0" bIns="0" rtlCol="0" anchor="ctr"/>
          <a:lstStyle/>
          <a:p>
            <a:pPr indent="0" marL="0">
              <a:buNone/>
            </a:pPr>
            <a:r>
              <a:rPr lang="en-US" sz="1100" dirty="0">
                <a:solidFill>
                  <a:srgbClr val="3C5563"/>
                </a:solidFill>
                <a:latin typeface="Arial" pitchFamily="34" charset="0"/>
                <a:ea typeface="Arial" pitchFamily="34" charset="-122"/>
                <a:cs typeface="Arial" pitchFamily="34" charset="-120"/>
              </a:rPr>
              <a:t>tedarikçi bildirimi</a:t>
            </a:r>
            <a:endParaRPr lang="en-US" sz="1100" dirty="0"/>
          </a:p>
        </p:txBody>
      </p:sp>
      <p:sp>
        <p:nvSpPr>
          <p:cNvPr id="21" name="Shape 19"/>
          <p:cNvSpPr/>
          <p:nvPr/>
        </p:nvSpPr>
        <p:spPr>
          <a:xfrm>
            <a:off x="6223864" y="2633472"/>
            <a:ext cx="2535860" cy="868680"/>
          </a:xfrm>
          <a:prstGeom prst="roundRect">
            <a:avLst>
              <a:gd name="adj" fmla="val 10526"/>
            </a:avLst>
          </a:prstGeom>
          <a:solidFill>
            <a:srgbClr val="EAF5F1"/>
          </a:solidFill>
          <a:ln w="12700">
            <a:solidFill>
              <a:srgbClr val="D3E4DD"/>
            </a:solidFill>
            <a:prstDash val="solid"/>
          </a:ln>
        </p:spPr>
      </p:sp>
      <p:sp>
        <p:nvSpPr>
          <p:cNvPr id="22" name="Text 20"/>
          <p:cNvSpPr txBox="1"/>
          <p:nvPr/>
        </p:nvSpPr>
        <p:spPr>
          <a:xfrm>
            <a:off x="6406744" y="2788920"/>
            <a:ext cx="2170100" cy="329184"/>
          </a:xfrm>
          <a:prstGeom prst="rect">
            <a:avLst/>
          </a:prstGeom>
          <a:noFill/>
          <a:ln/>
        </p:spPr>
        <p:txBody>
          <a:bodyPr wrap="square" lIns="0" tIns="0" rIns="0" bIns="0" rtlCol="0" anchor="ctr"/>
          <a:lstStyle/>
          <a:p>
            <a:pPr indent="0" marL="0">
              <a:buNone/>
            </a:pPr>
            <a:r>
              <a:rPr lang="en-US" sz="1500" b="1" dirty="0">
                <a:solidFill>
                  <a:srgbClr val="12303F"/>
                </a:solidFill>
                <a:latin typeface="Arial" pitchFamily="34" charset="0"/>
                <a:ea typeface="Arial" pitchFamily="34" charset="-122"/>
                <a:cs typeface="Arial" pitchFamily="34" charset="-120"/>
              </a:rPr>
              <a:t>GitHub Actions CI</a:t>
            </a:r>
            <a:endParaRPr lang="en-US" sz="1500" dirty="0"/>
          </a:p>
        </p:txBody>
      </p:sp>
      <p:sp>
        <p:nvSpPr>
          <p:cNvPr id="23" name="Text 21"/>
          <p:cNvSpPr txBox="1"/>
          <p:nvPr/>
        </p:nvSpPr>
        <p:spPr>
          <a:xfrm>
            <a:off x="6406744" y="3118104"/>
            <a:ext cx="2170100" cy="274320"/>
          </a:xfrm>
          <a:prstGeom prst="rect">
            <a:avLst/>
          </a:prstGeom>
          <a:noFill/>
          <a:ln/>
        </p:spPr>
        <p:txBody>
          <a:bodyPr wrap="square" lIns="0" tIns="0" rIns="0" bIns="0" rtlCol="0" anchor="ctr"/>
          <a:lstStyle/>
          <a:p>
            <a:pPr indent="0" marL="0">
              <a:buNone/>
            </a:pPr>
            <a:r>
              <a:rPr lang="en-US" sz="1100" dirty="0">
                <a:solidFill>
                  <a:srgbClr val="3C5563"/>
                </a:solidFill>
                <a:latin typeface="Arial" pitchFamily="34" charset="0"/>
                <a:ea typeface="Arial" pitchFamily="34" charset="-122"/>
                <a:cs typeface="Arial" pitchFamily="34" charset="-120"/>
              </a:rPr>
              <a:t>her PR'da yeşil</a:t>
            </a:r>
            <a:endParaRPr lang="en-US" sz="1100" dirty="0"/>
          </a:p>
        </p:txBody>
      </p:sp>
      <p:sp>
        <p:nvSpPr>
          <p:cNvPr id="24" name="Shape 22"/>
          <p:cNvSpPr/>
          <p:nvPr/>
        </p:nvSpPr>
        <p:spPr>
          <a:xfrm>
            <a:off x="9015755" y="2633472"/>
            <a:ext cx="2535860" cy="868680"/>
          </a:xfrm>
          <a:prstGeom prst="roundRect">
            <a:avLst>
              <a:gd name="adj" fmla="val 10526"/>
            </a:avLst>
          </a:prstGeom>
          <a:solidFill>
            <a:srgbClr val="1C8C6E"/>
          </a:solidFill>
          <a:ln/>
        </p:spPr>
      </p:sp>
      <p:sp>
        <p:nvSpPr>
          <p:cNvPr id="25" name="Text 23"/>
          <p:cNvSpPr txBox="1"/>
          <p:nvPr/>
        </p:nvSpPr>
        <p:spPr>
          <a:xfrm>
            <a:off x="9198635" y="2788920"/>
            <a:ext cx="2170100" cy="329184"/>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185 test</a:t>
            </a:r>
            <a:endParaRPr lang="en-US" sz="1500" dirty="0"/>
          </a:p>
        </p:txBody>
      </p:sp>
      <p:sp>
        <p:nvSpPr>
          <p:cNvPr id="26" name="Text 24"/>
          <p:cNvSpPr txBox="1"/>
          <p:nvPr/>
        </p:nvSpPr>
        <p:spPr>
          <a:xfrm>
            <a:off x="9198635" y="3118104"/>
            <a:ext cx="2170100" cy="274320"/>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pytest · seed doğrulama</a:t>
            </a:r>
            <a:endParaRPr lang="en-US" sz="1100" dirty="0"/>
          </a:p>
        </p:txBody>
      </p:sp>
      <p:sp>
        <p:nvSpPr>
          <p:cNvPr id="27" name="Shape 25"/>
          <p:cNvSpPr/>
          <p:nvPr/>
        </p:nvSpPr>
        <p:spPr>
          <a:xfrm>
            <a:off x="640080" y="3977640"/>
            <a:ext cx="10911535" cy="1371600"/>
          </a:xfrm>
          <a:prstGeom prst="roundRect">
            <a:avLst>
              <a:gd name="adj" fmla="val 8000"/>
            </a:avLst>
          </a:prstGeom>
          <a:solidFill>
            <a:srgbClr val="0F2A3C"/>
          </a:solidFill>
          <a:ln/>
        </p:spPr>
      </p:sp>
      <p:sp>
        <p:nvSpPr>
          <p:cNvPr id="28" name="Shape 26"/>
          <p:cNvSpPr/>
          <p:nvPr/>
        </p:nvSpPr>
        <p:spPr>
          <a:xfrm>
            <a:off x="1051560" y="4379976"/>
            <a:ext cx="566928" cy="566928"/>
          </a:xfrm>
          <a:prstGeom prst="ellipse">
            <a:avLst/>
          </a:prstGeom>
          <a:solidFill>
            <a:srgbClr val="1C8C6E"/>
          </a:solidFill>
          <a:ln/>
        </p:spPr>
      </p:sp>
      <p:pic>
        <p:nvPicPr>
          <p:cNvPr id="29" name="Image 0" descr="preencoded.png">    </p:cNvPr>
          <p:cNvPicPr>
            <a:picLocks noChangeAspect="1"/>
          </p:cNvPicPr>
          <p:nvPr/>
        </p:nvPicPr>
        <p:blipFill>
          <a:blip r:embed="rId1"/>
          <a:stretch>
            <a:fillRect/>
          </a:stretch>
        </p:blipFill>
        <p:spPr>
          <a:xfrm>
            <a:off x="1211580" y="4539996"/>
            <a:ext cx="246888" cy="246888"/>
          </a:xfrm>
          <a:prstGeom prst="rect">
            <a:avLst/>
          </a:prstGeom>
        </p:spPr>
      </p:pic>
      <p:sp>
        <p:nvSpPr>
          <p:cNvPr id="30" name="Text 27"/>
          <p:cNvSpPr txBox="1"/>
          <p:nvPr/>
        </p:nvSpPr>
        <p:spPr>
          <a:xfrm>
            <a:off x="1828800" y="4251960"/>
            <a:ext cx="9311335"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AI kod yazdı değil; AI hızlandırdı.</a:t>
            </a:r>
            <a:endParaRPr lang="en-US" sz="2200" dirty="0"/>
          </a:p>
        </p:txBody>
      </p:sp>
      <p:sp>
        <p:nvSpPr>
          <p:cNvPr id="31" name="Text 28"/>
          <p:cNvSpPr txBox="1"/>
          <p:nvPr/>
        </p:nvSpPr>
        <p:spPr>
          <a:xfrm>
            <a:off x="1828800" y="4709160"/>
            <a:ext cx="9311335" cy="411480"/>
          </a:xfrm>
          <a:prstGeom prst="rect">
            <a:avLst/>
          </a:prstGeom>
          <a:noFill/>
          <a:ln/>
        </p:spPr>
        <p:txBody>
          <a:bodyPr wrap="square" lIns="0" tIns="0" rIns="0" bIns="0" rtlCol="0" anchor="ctr"/>
          <a:lstStyle/>
          <a:p>
            <a:pPr indent="0" marL="0">
              <a:buNone/>
            </a:pPr>
            <a:r>
              <a:rPr lang="en-US" sz="1600" dirty="0">
                <a:solidFill>
                  <a:srgbClr val="C9DEE6"/>
                </a:solidFill>
                <a:latin typeface="Arial" pitchFamily="34" charset="0"/>
                <a:ea typeface="Arial" pitchFamily="34" charset="-122"/>
                <a:cs typeface="Arial" pitchFamily="34" charset="-120"/>
              </a:rPr>
              <a:t>Sınırları CI, eval ve dosya sahipliği koydu.</a:t>
            </a:r>
            <a:endParaRPr lang="en-US" sz="1600" dirty="0"/>
          </a:p>
        </p:txBody>
      </p:sp>
      <p:sp>
        <p:nvSpPr>
          <p:cNvPr id="32" name="Text 29"/>
          <p:cNvSpPr txBox="1"/>
          <p:nvPr/>
        </p:nvSpPr>
        <p:spPr>
          <a:xfrm>
            <a:off x="640080" y="5623560"/>
            <a:ext cx="10911535" cy="320040"/>
          </a:xfrm>
          <a:prstGeom prst="rect">
            <a:avLst/>
          </a:prstGeom>
          <a:noFill/>
          <a:ln/>
        </p:spPr>
        <p:txBody>
          <a:bodyPr wrap="square" lIns="0" tIns="0" rIns="0" bIns="0" rtlCol="0" anchor="ctr"/>
          <a:lstStyle/>
          <a:p>
            <a:pPr indent="0" marL="0">
              <a:buNone/>
            </a:pPr>
            <a:r>
              <a:rPr lang="en-US" sz="1200" dirty="0">
                <a:solidFill>
                  <a:srgbClr val="3C5563"/>
                </a:solidFill>
                <a:latin typeface="Arial" pitchFamily="34" charset="0"/>
                <a:ea typeface="Arial" pitchFamily="34" charset="-122"/>
                <a:cs typeface="Arial" pitchFamily="34" charset="-120"/>
              </a:rPr>
              <a:t>15 soruluk Türkçe eval seti  ·  her dosyanın tek sahibi  ·  CI yeşil olmadan merge yok</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AF5F1"/>
        </a:solidFill>
      </p:bgPr>
    </p:bg>
    <p:spTree>
      <p:nvGrpSpPr>
        <p:cNvPr id="1" name=""/>
        <p:cNvGrpSpPr/>
        <p:nvPr/>
      </p:nvGrpSpPr>
      <p:grpSpPr>
        <a:xfrm>
          <a:off x="0" y="0"/>
          <a:ext cx="0" cy="0"/>
          <a:chOff x="0" y="0"/>
          <a:chExt cx="0" cy="0"/>
        </a:xfrm>
      </p:grpSpPr>
      <p:sp>
        <p:nvSpPr>
          <p:cNvPr id="2" name="Text 0"/>
          <p:cNvSpPr txBox="1"/>
          <p:nvPr/>
        </p:nvSpPr>
        <p:spPr>
          <a:xfrm>
            <a:off x="640080" y="457200"/>
            <a:ext cx="7315200" cy="685800"/>
          </a:xfrm>
          <a:prstGeom prst="rect">
            <a:avLst/>
          </a:prstGeom>
          <a:noFill/>
          <a:ln/>
        </p:spPr>
        <p:txBody>
          <a:bodyPr wrap="square" lIns="0" tIns="0" rIns="0" bIns="0" rtlCol="0" anchor="ctr"/>
          <a:lstStyle/>
          <a:p>
            <a:pPr indent="0" marL="0">
              <a:buNone/>
            </a:pPr>
            <a:r>
              <a:rPr lang="en-US" sz="3800" b="1" dirty="0">
                <a:solidFill>
                  <a:srgbClr val="12303F"/>
                </a:solidFill>
                <a:latin typeface="Arial" pitchFamily="34" charset="0"/>
                <a:ea typeface="Arial" pitchFamily="34" charset="-122"/>
                <a:cs typeface="Arial" pitchFamily="34" charset="-120"/>
              </a:rPr>
              <a:t>Ekip ve iş bölümü</a:t>
            </a:r>
            <a:endParaRPr lang="en-US" sz="3800" dirty="0"/>
          </a:p>
        </p:txBody>
      </p:sp>
      <p:sp>
        <p:nvSpPr>
          <p:cNvPr id="3" name="Shape 1"/>
          <p:cNvSpPr/>
          <p:nvPr/>
        </p:nvSpPr>
        <p:spPr>
          <a:xfrm>
            <a:off x="8671255" y="548640"/>
            <a:ext cx="2880360" cy="566928"/>
          </a:xfrm>
          <a:prstGeom prst="roundRect">
            <a:avLst>
              <a:gd name="adj" fmla="val 50000"/>
            </a:avLst>
          </a:prstGeom>
          <a:solidFill>
            <a:srgbClr val="1C8C6E"/>
          </a:solidFill>
          <a:ln/>
        </p:spPr>
      </p:sp>
      <p:sp>
        <p:nvSpPr>
          <p:cNvPr id="4" name="Text 2"/>
          <p:cNvSpPr txBox="1"/>
          <p:nvPr/>
        </p:nvSpPr>
        <p:spPr>
          <a:xfrm>
            <a:off x="8671255" y="548640"/>
            <a:ext cx="2880360" cy="566928"/>
          </a:xfrm>
          <a:prstGeom prst="rect">
            <a:avLst/>
          </a:prstGeom>
          <a:noFill/>
          <a:ln/>
        </p:spPr>
        <p:txBody>
          <a:bodyPr wrap="square" lIns="0" tIns="0" rIns="0" bIns="0" rtlCol="0" anchor="ctr"/>
          <a:lstStyle/>
          <a:p>
            <a:pPr algn="ctr" indent="0" marL="0">
              <a:buNone/>
            </a:pPr>
            <a:r>
              <a:rPr lang="en-US" sz="1400" b="1" spc="100" kern="0" dirty="0">
                <a:solidFill>
                  <a:srgbClr val="FFFFFF"/>
                </a:solidFill>
                <a:latin typeface="Arial" pitchFamily="34" charset="0"/>
                <a:ea typeface="Arial" pitchFamily="34" charset="-122"/>
                <a:cs typeface="Arial" pitchFamily="34" charset="-120"/>
              </a:rPr>
              <a:t>1 GÜNDE UÇTAN UCA</a:t>
            </a:r>
            <a:endParaRPr lang="en-US" sz="1400" dirty="0"/>
          </a:p>
        </p:txBody>
      </p:sp>
      <p:sp>
        <p:nvSpPr>
          <p:cNvPr id="5" name="Shape 3"/>
          <p:cNvSpPr/>
          <p:nvPr/>
        </p:nvSpPr>
        <p:spPr>
          <a:xfrm>
            <a:off x="640080" y="1572768"/>
            <a:ext cx="2522144" cy="3474720"/>
          </a:xfrm>
          <a:prstGeom prst="roundRect">
            <a:avLst>
              <a:gd name="adj" fmla="val 3625"/>
            </a:avLst>
          </a:prstGeom>
          <a:solidFill>
            <a:srgbClr val="FFFFFF"/>
          </a:solidFill>
          <a:ln w="12700">
            <a:solidFill>
              <a:srgbClr val="D3E4DD"/>
            </a:solidFill>
            <a:prstDash val="solid"/>
          </a:ln>
          <a:effectLst>
            <a:outerShdw sx="100000" sy="100000" kx="0" ky="0" algn="bl" rotWithShape="0" blurRad="127000" dist="25400" dir="5400000">
              <a:srgbClr val="0F2A3C">
                <a:alpha val="10000"/>
              </a:srgbClr>
            </a:outerShdw>
          </a:effectLst>
        </p:spPr>
      </p:sp>
      <p:sp>
        <p:nvSpPr>
          <p:cNvPr id="6" name="Shape 4"/>
          <p:cNvSpPr/>
          <p:nvPr/>
        </p:nvSpPr>
        <p:spPr>
          <a:xfrm>
            <a:off x="1443952" y="1956816"/>
            <a:ext cx="914400" cy="914400"/>
          </a:xfrm>
          <a:prstGeom prst="ellipse">
            <a:avLst/>
          </a:prstGeom>
          <a:solidFill>
            <a:srgbClr val="0F2A3C"/>
          </a:solidFill>
          <a:ln/>
        </p:spPr>
      </p:sp>
      <p:sp>
        <p:nvSpPr>
          <p:cNvPr id="7" name="Text 5"/>
          <p:cNvSpPr txBox="1"/>
          <p:nvPr/>
        </p:nvSpPr>
        <p:spPr>
          <a:xfrm>
            <a:off x="1443952" y="1956816"/>
            <a:ext cx="914400" cy="914400"/>
          </a:xfrm>
          <a:prstGeom prst="rect">
            <a:avLst/>
          </a:prstGeom>
          <a:noFill/>
          <a:ln/>
        </p:spPr>
        <p:txBody>
          <a:bodyPr wrap="square" lIns="0" tIns="0" rIns="0" bIns="0" rtlCol="0" anchor="ctr"/>
          <a:lstStyle/>
          <a:p>
            <a:pPr algn="ctr" indent="0" marL="0">
              <a:buNone/>
            </a:pPr>
            <a:r>
              <a:rPr lang="en-US" sz="2600" b="1" dirty="0">
                <a:solidFill>
                  <a:srgbClr val="7FD9BC"/>
                </a:solidFill>
                <a:latin typeface="Arial" pitchFamily="34" charset="0"/>
                <a:ea typeface="Arial" pitchFamily="34" charset="-122"/>
                <a:cs typeface="Arial" pitchFamily="34" charset="-120"/>
              </a:rPr>
              <a:t>KY</a:t>
            </a:r>
            <a:endParaRPr lang="en-US" sz="2600" dirty="0"/>
          </a:p>
        </p:txBody>
      </p:sp>
      <p:sp>
        <p:nvSpPr>
          <p:cNvPr id="8" name="Text 6"/>
          <p:cNvSpPr txBox="1"/>
          <p:nvPr/>
        </p:nvSpPr>
        <p:spPr>
          <a:xfrm>
            <a:off x="804672" y="3054096"/>
            <a:ext cx="2192960" cy="640080"/>
          </a:xfrm>
          <a:prstGeom prst="rect">
            <a:avLst/>
          </a:prstGeom>
          <a:noFill/>
          <a:ln/>
        </p:spPr>
        <p:txBody>
          <a:bodyPr wrap="square" lIns="0" tIns="0" rIns="0" bIns="0" rtlCol="0" anchor="ctr"/>
          <a:lstStyle/>
          <a:p>
            <a:pPr algn="ctr" indent="0" marL="0">
              <a:buNone/>
            </a:pPr>
            <a:r>
              <a:rPr lang="en-US" sz="1600" b="1" dirty="0">
                <a:solidFill>
                  <a:srgbClr val="12303F"/>
                </a:solidFill>
                <a:latin typeface="Arial" pitchFamily="34" charset="0"/>
                <a:ea typeface="Arial" pitchFamily="34" charset="-122"/>
                <a:cs typeface="Arial" pitchFamily="34" charset="-120"/>
              </a:rPr>
              <a:t>Kutay Yıldırım</a:t>
            </a:r>
            <a:endParaRPr lang="en-US" sz="1600" dirty="0"/>
          </a:p>
        </p:txBody>
      </p:sp>
      <p:sp>
        <p:nvSpPr>
          <p:cNvPr id="9" name="Text 7"/>
          <p:cNvSpPr txBox="1"/>
          <p:nvPr/>
        </p:nvSpPr>
        <p:spPr>
          <a:xfrm>
            <a:off x="804672" y="3675888"/>
            <a:ext cx="2192960" cy="566928"/>
          </a:xfrm>
          <a:prstGeom prst="rect">
            <a:avLst/>
          </a:prstGeom>
          <a:noFill/>
          <a:ln/>
        </p:spPr>
        <p:txBody>
          <a:bodyPr wrap="square" lIns="0" tIns="0" rIns="0" bIns="0" rtlCol="0" anchor="ctr"/>
          <a:lstStyle/>
          <a:p>
            <a:pPr algn="ctr" indent="0" marL="0">
              <a:buNone/>
            </a:pPr>
            <a:r>
              <a:rPr lang="en-US" sz="1300" b="1" dirty="0">
                <a:solidFill>
                  <a:srgbClr val="1C8C6E"/>
                </a:solidFill>
                <a:latin typeface="Arial" pitchFamily="34" charset="0"/>
                <a:ea typeface="Arial" pitchFamily="34" charset="-122"/>
                <a:cs typeface="Arial" pitchFamily="34" charset="-120"/>
              </a:rPr>
              <a:t>Web arayüzü</a:t>
            </a:r>
            <a:endParaRPr lang="en-US" sz="1300" dirty="0"/>
          </a:p>
        </p:txBody>
      </p:sp>
      <p:sp>
        <p:nvSpPr>
          <p:cNvPr id="10" name="Text 8"/>
          <p:cNvSpPr txBox="1"/>
          <p:nvPr/>
        </p:nvSpPr>
        <p:spPr>
          <a:xfrm>
            <a:off x="804672" y="4261104"/>
            <a:ext cx="2192960" cy="658368"/>
          </a:xfrm>
          <a:prstGeom prst="rect">
            <a:avLst/>
          </a:prstGeom>
          <a:noFill/>
          <a:ln/>
        </p:spPr>
        <p:txBody>
          <a:bodyPr wrap="square" lIns="0" tIns="0" rIns="0" bIns="0" rtlCol="0" anchor="ctr"/>
          <a:lstStyle/>
          <a:p>
            <a:pPr algn="ctr" indent="0" marL="0">
              <a:buNone/>
            </a:pPr>
            <a:r>
              <a:rPr lang="en-US" sz="1150" dirty="0">
                <a:solidFill>
                  <a:srgbClr val="3C5563"/>
                </a:solidFill>
                <a:latin typeface="Arial" pitchFamily="34" charset="0"/>
                <a:ea typeface="Arial" pitchFamily="34" charset="-122"/>
                <a:cs typeface="Arial" pitchFamily="34" charset="-120"/>
              </a:rPr>
              <a:t>Next.js ekranları, grafikler, mobil kontrol</a:t>
            </a:r>
            <a:endParaRPr lang="en-US" sz="1150" dirty="0"/>
          </a:p>
        </p:txBody>
      </p:sp>
      <p:sp>
        <p:nvSpPr>
          <p:cNvPr id="11" name="Shape 9"/>
          <p:cNvSpPr/>
          <p:nvPr/>
        </p:nvSpPr>
        <p:spPr>
          <a:xfrm>
            <a:off x="3436544" y="1572768"/>
            <a:ext cx="2522144" cy="3474720"/>
          </a:xfrm>
          <a:prstGeom prst="roundRect">
            <a:avLst>
              <a:gd name="adj" fmla="val 3625"/>
            </a:avLst>
          </a:prstGeom>
          <a:solidFill>
            <a:srgbClr val="FFFFFF"/>
          </a:solidFill>
          <a:ln w="12700">
            <a:solidFill>
              <a:srgbClr val="D3E4DD"/>
            </a:solidFill>
            <a:prstDash val="solid"/>
          </a:ln>
          <a:effectLst>
            <a:outerShdw sx="100000" sy="100000" kx="0" ky="0" algn="bl" rotWithShape="0" blurRad="127000" dist="25400" dir="5400000">
              <a:srgbClr val="0F2A3C">
                <a:alpha val="10000"/>
              </a:srgbClr>
            </a:outerShdw>
          </a:effectLst>
        </p:spPr>
      </p:sp>
      <p:sp>
        <p:nvSpPr>
          <p:cNvPr id="12" name="Shape 10"/>
          <p:cNvSpPr/>
          <p:nvPr/>
        </p:nvSpPr>
        <p:spPr>
          <a:xfrm>
            <a:off x="4240416" y="1956816"/>
            <a:ext cx="914400" cy="914400"/>
          </a:xfrm>
          <a:prstGeom prst="ellipse">
            <a:avLst/>
          </a:prstGeom>
          <a:solidFill>
            <a:srgbClr val="0F2A3C"/>
          </a:solidFill>
          <a:ln/>
        </p:spPr>
      </p:sp>
      <p:sp>
        <p:nvSpPr>
          <p:cNvPr id="13" name="Text 11"/>
          <p:cNvSpPr txBox="1"/>
          <p:nvPr/>
        </p:nvSpPr>
        <p:spPr>
          <a:xfrm>
            <a:off x="4240416" y="1956816"/>
            <a:ext cx="914400" cy="914400"/>
          </a:xfrm>
          <a:prstGeom prst="rect">
            <a:avLst/>
          </a:prstGeom>
          <a:noFill/>
          <a:ln/>
        </p:spPr>
        <p:txBody>
          <a:bodyPr wrap="square" lIns="0" tIns="0" rIns="0" bIns="0" rtlCol="0" anchor="ctr"/>
          <a:lstStyle/>
          <a:p>
            <a:pPr algn="ctr" indent="0" marL="0">
              <a:buNone/>
            </a:pPr>
            <a:r>
              <a:rPr lang="en-US" sz="2600" b="1" dirty="0">
                <a:solidFill>
                  <a:srgbClr val="7FD9BC"/>
                </a:solidFill>
                <a:latin typeface="Arial" pitchFamily="34" charset="0"/>
                <a:ea typeface="Arial" pitchFamily="34" charset="-122"/>
                <a:cs typeface="Arial" pitchFamily="34" charset="-120"/>
              </a:rPr>
              <a:t>MA</a:t>
            </a:r>
            <a:endParaRPr lang="en-US" sz="2600" dirty="0"/>
          </a:p>
        </p:txBody>
      </p:sp>
      <p:sp>
        <p:nvSpPr>
          <p:cNvPr id="14" name="Text 12"/>
          <p:cNvSpPr txBox="1"/>
          <p:nvPr/>
        </p:nvSpPr>
        <p:spPr>
          <a:xfrm>
            <a:off x="3601136" y="3054096"/>
            <a:ext cx="2192960" cy="640080"/>
          </a:xfrm>
          <a:prstGeom prst="rect">
            <a:avLst/>
          </a:prstGeom>
          <a:noFill/>
          <a:ln/>
        </p:spPr>
        <p:txBody>
          <a:bodyPr wrap="square" lIns="0" tIns="0" rIns="0" bIns="0" rtlCol="0" anchor="ctr"/>
          <a:lstStyle/>
          <a:p>
            <a:pPr algn="ctr" indent="0" marL="0">
              <a:buNone/>
            </a:pPr>
            <a:r>
              <a:rPr lang="en-US" sz="1600" b="1" dirty="0">
                <a:solidFill>
                  <a:srgbClr val="12303F"/>
                </a:solidFill>
                <a:latin typeface="Arial" pitchFamily="34" charset="0"/>
                <a:ea typeface="Arial" pitchFamily="34" charset="-122"/>
                <a:cs typeface="Arial" pitchFamily="34" charset="-120"/>
              </a:rPr>
              <a:t>Muratcan Ateş</a:t>
            </a:r>
            <a:endParaRPr lang="en-US" sz="1600" dirty="0"/>
          </a:p>
        </p:txBody>
      </p:sp>
      <p:sp>
        <p:nvSpPr>
          <p:cNvPr id="15" name="Text 13"/>
          <p:cNvSpPr txBox="1"/>
          <p:nvPr/>
        </p:nvSpPr>
        <p:spPr>
          <a:xfrm>
            <a:off x="3601136" y="3675888"/>
            <a:ext cx="2192960" cy="566928"/>
          </a:xfrm>
          <a:prstGeom prst="rect">
            <a:avLst/>
          </a:prstGeom>
          <a:noFill/>
          <a:ln/>
        </p:spPr>
        <p:txBody>
          <a:bodyPr wrap="square" lIns="0" tIns="0" rIns="0" bIns="0" rtlCol="0" anchor="ctr"/>
          <a:lstStyle/>
          <a:p>
            <a:pPr algn="ctr" indent="0" marL="0">
              <a:buNone/>
            </a:pPr>
            <a:r>
              <a:rPr lang="en-US" sz="1300" b="1" dirty="0">
                <a:solidFill>
                  <a:srgbClr val="1C8C6E"/>
                </a:solidFill>
                <a:latin typeface="Arial" pitchFamily="34" charset="0"/>
                <a:ea typeface="Arial" pitchFamily="34" charset="-122"/>
                <a:cs typeface="Arial" pitchFamily="34" charset="-120"/>
              </a:rPr>
              <a:t>Mimari · API · Text-to-SQL</a:t>
            </a:r>
            <a:endParaRPr lang="en-US" sz="1300" dirty="0"/>
          </a:p>
        </p:txBody>
      </p:sp>
      <p:sp>
        <p:nvSpPr>
          <p:cNvPr id="16" name="Text 14"/>
          <p:cNvSpPr txBox="1"/>
          <p:nvPr/>
        </p:nvSpPr>
        <p:spPr>
          <a:xfrm>
            <a:off x="3601136" y="4261104"/>
            <a:ext cx="2192960" cy="658368"/>
          </a:xfrm>
          <a:prstGeom prst="rect">
            <a:avLst/>
          </a:prstGeom>
          <a:noFill/>
          <a:ln/>
        </p:spPr>
        <p:txBody>
          <a:bodyPr wrap="square" lIns="0" tIns="0" rIns="0" bIns="0" rtlCol="0" anchor="ctr"/>
          <a:lstStyle/>
          <a:p>
            <a:pPr algn="ctr" indent="0" marL="0">
              <a:buNone/>
            </a:pPr>
            <a:r>
              <a:rPr lang="en-US" sz="1150" dirty="0">
                <a:solidFill>
                  <a:srgbClr val="3C5563"/>
                </a:solidFill>
                <a:latin typeface="Arial" pitchFamily="34" charset="0"/>
                <a:ea typeface="Arial" pitchFamily="34" charset="-122"/>
                <a:cs typeface="Arial" pitchFamily="34" charset="-120"/>
              </a:rPr>
              <a:t>FastAPI çekirdeği, asistan ve SQL koruması</a:t>
            </a:r>
            <a:endParaRPr lang="en-US" sz="1150" dirty="0"/>
          </a:p>
        </p:txBody>
      </p:sp>
      <p:sp>
        <p:nvSpPr>
          <p:cNvPr id="17" name="Shape 15"/>
          <p:cNvSpPr/>
          <p:nvPr/>
        </p:nvSpPr>
        <p:spPr>
          <a:xfrm>
            <a:off x="6233008" y="1572768"/>
            <a:ext cx="2522144" cy="3474720"/>
          </a:xfrm>
          <a:prstGeom prst="roundRect">
            <a:avLst>
              <a:gd name="adj" fmla="val 3625"/>
            </a:avLst>
          </a:prstGeom>
          <a:solidFill>
            <a:srgbClr val="FFFFFF"/>
          </a:solidFill>
          <a:ln w="12700">
            <a:solidFill>
              <a:srgbClr val="D3E4DD"/>
            </a:solidFill>
            <a:prstDash val="solid"/>
          </a:ln>
          <a:effectLst>
            <a:outerShdw sx="100000" sy="100000" kx="0" ky="0" algn="bl" rotWithShape="0" blurRad="127000" dist="25400" dir="5400000">
              <a:srgbClr val="0F2A3C">
                <a:alpha val="10000"/>
              </a:srgbClr>
            </a:outerShdw>
          </a:effectLst>
        </p:spPr>
      </p:sp>
      <p:sp>
        <p:nvSpPr>
          <p:cNvPr id="18" name="Shape 16"/>
          <p:cNvSpPr/>
          <p:nvPr/>
        </p:nvSpPr>
        <p:spPr>
          <a:xfrm>
            <a:off x="7036880" y="1956816"/>
            <a:ext cx="914400" cy="914400"/>
          </a:xfrm>
          <a:prstGeom prst="ellipse">
            <a:avLst/>
          </a:prstGeom>
          <a:solidFill>
            <a:srgbClr val="0F2A3C"/>
          </a:solidFill>
          <a:ln/>
        </p:spPr>
      </p:sp>
      <p:sp>
        <p:nvSpPr>
          <p:cNvPr id="19" name="Text 17"/>
          <p:cNvSpPr txBox="1"/>
          <p:nvPr/>
        </p:nvSpPr>
        <p:spPr>
          <a:xfrm>
            <a:off x="7036880" y="1956816"/>
            <a:ext cx="914400" cy="914400"/>
          </a:xfrm>
          <a:prstGeom prst="rect">
            <a:avLst/>
          </a:prstGeom>
          <a:noFill/>
          <a:ln/>
        </p:spPr>
        <p:txBody>
          <a:bodyPr wrap="square" lIns="0" tIns="0" rIns="0" bIns="0" rtlCol="0" anchor="ctr"/>
          <a:lstStyle/>
          <a:p>
            <a:pPr algn="ctr" indent="0" marL="0">
              <a:buNone/>
            </a:pPr>
            <a:r>
              <a:rPr lang="en-US" sz="2600" b="1" dirty="0">
                <a:solidFill>
                  <a:srgbClr val="7FD9BC"/>
                </a:solidFill>
                <a:latin typeface="Arial" pitchFamily="34" charset="0"/>
                <a:ea typeface="Arial" pitchFamily="34" charset="-122"/>
                <a:cs typeface="Arial" pitchFamily="34" charset="-120"/>
              </a:rPr>
              <a:t>ÖE</a:t>
            </a:r>
            <a:endParaRPr lang="en-US" sz="2600" dirty="0"/>
          </a:p>
        </p:txBody>
      </p:sp>
      <p:sp>
        <p:nvSpPr>
          <p:cNvPr id="20" name="Text 18"/>
          <p:cNvSpPr txBox="1"/>
          <p:nvPr/>
        </p:nvSpPr>
        <p:spPr>
          <a:xfrm>
            <a:off x="6397600" y="3054096"/>
            <a:ext cx="2192960" cy="640080"/>
          </a:xfrm>
          <a:prstGeom prst="rect">
            <a:avLst/>
          </a:prstGeom>
          <a:noFill/>
          <a:ln/>
        </p:spPr>
        <p:txBody>
          <a:bodyPr wrap="square" lIns="0" tIns="0" rIns="0" bIns="0" rtlCol="0" anchor="ctr"/>
          <a:lstStyle/>
          <a:p>
            <a:pPr algn="ctr" indent="0" marL="0">
              <a:buNone/>
            </a:pPr>
            <a:r>
              <a:rPr lang="en-US" sz="1600" b="1" dirty="0">
                <a:solidFill>
                  <a:srgbClr val="12303F"/>
                </a:solidFill>
                <a:latin typeface="Arial" pitchFamily="34" charset="0"/>
                <a:ea typeface="Arial" pitchFamily="34" charset="-122"/>
                <a:cs typeface="Arial" pitchFamily="34" charset="-120"/>
              </a:rPr>
              <a:t>Ömer Faruk Eskitürk</a:t>
            </a:r>
            <a:endParaRPr lang="en-US" sz="1600" dirty="0"/>
          </a:p>
        </p:txBody>
      </p:sp>
      <p:sp>
        <p:nvSpPr>
          <p:cNvPr id="21" name="Text 19"/>
          <p:cNvSpPr txBox="1"/>
          <p:nvPr/>
        </p:nvSpPr>
        <p:spPr>
          <a:xfrm>
            <a:off x="6397600" y="3675888"/>
            <a:ext cx="2192960" cy="566928"/>
          </a:xfrm>
          <a:prstGeom prst="rect">
            <a:avLst/>
          </a:prstGeom>
          <a:noFill/>
          <a:ln/>
        </p:spPr>
        <p:txBody>
          <a:bodyPr wrap="square" lIns="0" tIns="0" rIns="0" bIns="0" rtlCol="0" anchor="ctr"/>
          <a:lstStyle/>
          <a:p>
            <a:pPr algn="ctr" indent="0" marL="0">
              <a:buNone/>
            </a:pPr>
            <a:r>
              <a:rPr lang="en-US" sz="1300" b="1" dirty="0">
                <a:solidFill>
                  <a:srgbClr val="1C8C6E"/>
                </a:solidFill>
                <a:latin typeface="Arial" pitchFamily="34" charset="0"/>
                <a:ea typeface="Arial" pitchFamily="34" charset="-122"/>
                <a:cs typeface="Arial" pitchFamily="34" charset="-120"/>
              </a:rPr>
              <a:t>Ajan · Bildirim · Demo</a:t>
            </a:r>
            <a:endParaRPr lang="en-US" sz="1300" dirty="0"/>
          </a:p>
        </p:txBody>
      </p:sp>
      <p:sp>
        <p:nvSpPr>
          <p:cNvPr id="22" name="Text 20"/>
          <p:cNvSpPr txBox="1"/>
          <p:nvPr/>
        </p:nvSpPr>
        <p:spPr>
          <a:xfrm>
            <a:off x="6397600" y="4261104"/>
            <a:ext cx="2192960" cy="658368"/>
          </a:xfrm>
          <a:prstGeom prst="rect">
            <a:avLst/>
          </a:prstGeom>
          <a:noFill/>
          <a:ln/>
        </p:spPr>
        <p:txBody>
          <a:bodyPr wrap="square" lIns="0" tIns="0" rIns="0" bIns="0" rtlCol="0" anchor="ctr"/>
          <a:lstStyle/>
          <a:p>
            <a:pPr algn="ctr" indent="0" marL="0">
              <a:buNone/>
            </a:pPr>
            <a:r>
              <a:rPr lang="en-US" sz="1150" dirty="0">
                <a:solidFill>
                  <a:srgbClr val="3C5563"/>
                </a:solidFill>
                <a:latin typeface="Arial" pitchFamily="34" charset="0"/>
                <a:ea typeface="Arial" pitchFamily="34" charset="-122"/>
                <a:cs typeface="Arial" pitchFamily="34" charset="-120"/>
              </a:rPr>
              <a:t>Tedarik ajanı, Telegram, demo senaryosu</a:t>
            </a:r>
            <a:endParaRPr lang="en-US" sz="1150" dirty="0"/>
          </a:p>
        </p:txBody>
      </p:sp>
      <p:sp>
        <p:nvSpPr>
          <p:cNvPr id="23" name="Shape 21"/>
          <p:cNvSpPr/>
          <p:nvPr/>
        </p:nvSpPr>
        <p:spPr>
          <a:xfrm>
            <a:off x="9029471" y="1572768"/>
            <a:ext cx="2522144" cy="3474720"/>
          </a:xfrm>
          <a:prstGeom prst="roundRect">
            <a:avLst>
              <a:gd name="adj" fmla="val 3625"/>
            </a:avLst>
          </a:prstGeom>
          <a:solidFill>
            <a:srgbClr val="FFFFFF"/>
          </a:solidFill>
          <a:ln w="12700">
            <a:solidFill>
              <a:srgbClr val="D3E4DD"/>
            </a:solidFill>
            <a:prstDash val="solid"/>
          </a:ln>
          <a:effectLst>
            <a:outerShdw sx="100000" sy="100000" kx="0" ky="0" algn="bl" rotWithShape="0" blurRad="127000" dist="25400" dir="5400000">
              <a:srgbClr val="0F2A3C">
                <a:alpha val="10000"/>
              </a:srgbClr>
            </a:outerShdw>
          </a:effectLst>
        </p:spPr>
      </p:sp>
      <p:sp>
        <p:nvSpPr>
          <p:cNvPr id="24" name="Shape 22"/>
          <p:cNvSpPr/>
          <p:nvPr/>
        </p:nvSpPr>
        <p:spPr>
          <a:xfrm>
            <a:off x="9833343" y="1956816"/>
            <a:ext cx="914400" cy="914400"/>
          </a:xfrm>
          <a:prstGeom prst="ellipse">
            <a:avLst/>
          </a:prstGeom>
          <a:solidFill>
            <a:srgbClr val="0F2A3C"/>
          </a:solidFill>
          <a:ln/>
        </p:spPr>
      </p:sp>
      <p:sp>
        <p:nvSpPr>
          <p:cNvPr id="25" name="Text 23"/>
          <p:cNvSpPr txBox="1"/>
          <p:nvPr/>
        </p:nvSpPr>
        <p:spPr>
          <a:xfrm>
            <a:off x="9833343" y="1956816"/>
            <a:ext cx="914400" cy="914400"/>
          </a:xfrm>
          <a:prstGeom prst="rect">
            <a:avLst/>
          </a:prstGeom>
          <a:noFill/>
          <a:ln/>
        </p:spPr>
        <p:txBody>
          <a:bodyPr wrap="square" lIns="0" tIns="0" rIns="0" bIns="0" rtlCol="0" anchor="ctr"/>
          <a:lstStyle/>
          <a:p>
            <a:pPr algn="ctr" indent="0" marL="0">
              <a:buNone/>
            </a:pPr>
            <a:r>
              <a:rPr lang="en-US" sz="2600" b="1" dirty="0">
                <a:solidFill>
                  <a:srgbClr val="7FD9BC"/>
                </a:solidFill>
                <a:latin typeface="Arial" pitchFamily="34" charset="0"/>
                <a:ea typeface="Arial" pitchFamily="34" charset="-122"/>
                <a:cs typeface="Arial" pitchFamily="34" charset="-120"/>
              </a:rPr>
              <a:t>YK</a:t>
            </a:r>
            <a:endParaRPr lang="en-US" sz="2600" dirty="0"/>
          </a:p>
        </p:txBody>
      </p:sp>
      <p:sp>
        <p:nvSpPr>
          <p:cNvPr id="26" name="Text 24"/>
          <p:cNvSpPr txBox="1"/>
          <p:nvPr/>
        </p:nvSpPr>
        <p:spPr>
          <a:xfrm>
            <a:off x="9194063" y="3054096"/>
            <a:ext cx="2192960" cy="640080"/>
          </a:xfrm>
          <a:prstGeom prst="rect">
            <a:avLst/>
          </a:prstGeom>
          <a:noFill/>
          <a:ln/>
        </p:spPr>
        <p:txBody>
          <a:bodyPr wrap="square" lIns="0" tIns="0" rIns="0" bIns="0" rtlCol="0" anchor="ctr"/>
          <a:lstStyle/>
          <a:p>
            <a:pPr algn="ctr" indent="0" marL="0">
              <a:buNone/>
            </a:pPr>
            <a:r>
              <a:rPr lang="en-US" sz="1600" b="1" dirty="0">
                <a:solidFill>
                  <a:srgbClr val="12303F"/>
                </a:solidFill>
                <a:latin typeface="Arial" pitchFamily="34" charset="0"/>
                <a:ea typeface="Arial" pitchFamily="34" charset="-122"/>
                <a:cs typeface="Arial" pitchFamily="34" charset="-120"/>
              </a:rPr>
              <a:t>Yiğit Yuşa Kartal</a:t>
            </a:r>
            <a:endParaRPr lang="en-US" sz="1600" dirty="0"/>
          </a:p>
        </p:txBody>
      </p:sp>
      <p:sp>
        <p:nvSpPr>
          <p:cNvPr id="27" name="Text 25"/>
          <p:cNvSpPr txBox="1"/>
          <p:nvPr/>
        </p:nvSpPr>
        <p:spPr>
          <a:xfrm>
            <a:off x="9194063" y="3675888"/>
            <a:ext cx="2192960" cy="566928"/>
          </a:xfrm>
          <a:prstGeom prst="rect">
            <a:avLst/>
          </a:prstGeom>
          <a:noFill/>
          <a:ln/>
        </p:spPr>
        <p:txBody>
          <a:bodyPr wrap="square" lIns="0" tIns="0" rIns="0" bIns="0" rtlCol="0" anchor="ctr"/>
          <a:lstStyle/>
          <a:p>
            <a:pPr algn="ctr" indent="0" marL="0">
              <a:buNone/>
            </a:pPr>
            <a:r>
              <a:rPr lang="en-US" sz="1300" b="1" dirty="0">
                <a:solidFill>
                  <a:srgbClr val="1C8C6E"/>
                </a:solidFill>
                <a:latin typeface="Arial" pitchFamily="34" charset="0"/>
                <a:ea typeface="Arial" pitchFamily="34" charset="-122"/>
                <a:cs typeface="Arial" pitchFamily="34" charset="-120"/>
              </a:rPr>
              <a:t>Veri · Analitik · Sunum</a:t>
            </a:r>
            <a:endParaRPr lang="en-US" sz="1300" dirty="0"/>
          </a:p>
        </p:txBody>
      </p:sp>
      <p:sp>
        <p:nvSpPr>
          <p:cNvPr id="28" name="Text 26"/>
          <p:cNvSpPr txBox="1"/>
          <p:nvPr/>
        </p:nvSpPr>
        <p:spPr>
          <a:xfrm>
            <a:off x="9194063" y="4261104"/>
            <a:ext cx="2192960" cy="658368"/>
          </a:xfrm>
          <a:prstGeom prst="rect">
            <a:avLst/>
          </a:prstGeom>
          <a:noFill/>
          <a:ln/>
        </p:spPr>
        <p:txBody>
          <a:bodyPr wrap="square" lIns="0" tIns="0" rIns="0" bIns="0" rtlCol="0" anchor="ctr"/>
          <a:lstStyle/>
          <a:p>
            <a:pPr algn="ctr" indent="0" marL="0">
              <a:buNone/>
            </a:pPr>
            <a:r>
              <a:rPr lang="en-US" sz="1150" dirty="0">
                <a:solidFill>
                  <a:srgbClr val="3C5563"/>
                </a:solidFill>
                <a:latin typeface="Arial" pitchFamily="34" charset="0"/>
                <a:ea typeface="Arial" pitchFamily="34" charset="-122"/>
                <a:cs typeface="Arial" pitchFamily="34" charset="-120"/>
              </a:rPr>
              <a:t>Sentetik veri, analitik uçlar, slaytlar</a:t>
            </a:r>
            <a:endParaRPr lang="en-US" sz="1150" dirty="0"/>
          </a:p>
        </p:txBody>
      </p:sp>
      <p:sp>
        <p:nvSpPr>
          <p:cNvPr id="29" name="Text 27"/>
          <p:cNvSpPr txBox="1"/>
          <p:nvPr/>
        </p:nvSpPr>
        <p:spPr>
          <a:xfrm>
            <a:off x="640080" y="5440680"/>
            <a:ext cx="10911535" cy="411480"/>
          </a:xfrm>
          <a:prstGeom prst="rect">
            <a:avLst/>
          </a:prstGeom>
          <a:noFill/>
          <a:ln/>
        </p:spPr>
        <p:txBody>
          <a:bodyPr wrap="square" lIns="0" tIns="0" rIns="0" bIns="0" rtlCol="0" anchor="ctr"/>
          <a:lstStyle/>
          <a:p>
            <a:pPr indent="0" marL="0">
              <a:buNone/>
            </a:pPr>
            <a:r>
              <a:rPr lang="en-US" sz="1500" dirty="0">
                <a:solidFill>
                  <a:srgbClr val="3C5563"/>
                </a:solidFill>
                <a:latin typeface="Arial" pitchFamily="34" charset="0"/>
                <a:ea typeface="Arial" pitchFamily="34" charset="-122"/>
                <a:cs typeface="Arial" pitchFamily="34" charset="-120"/>
              </a:rPr>
              <a:t>Dört kişi, dört dosya alanı: küçük PR'lar, 15 dakikada gözden geçirme, yeşil CI olmadan merge yok.</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2A3C"/>
        </a:solidFill>
      </p:bgPr>
    </p:bg>
    <p:spTree>
      <p:nvGrpSpPr>
        <p:cNvPr id="1" name=""/>
        <p:cNvGrpSpPr/>
        <p:nvPr/>
      </p:nvGrpSpPr>
      <p:grpSpPr>
        <a:xfrm>
          <a:off x="0" y="0"/>
          <a:ext cx="0" cy="0"/>
          <a:chOff x="0" y="0"/>
          <a:chExt cx="0" cy="0"/>
        </a:xfrm>
      </p:grpSpPr>
      <p:sp>
        <p:nvSpPr>
          <p:cNvPr id="2" name="Text 0"/>
          <p:cNvSpPr txBox="1"/>
          <p:nvPr/>
        </p:nvSpPr>
        <p:spPr>
          <a:xfrm>
            <a:off x="640080" y="438912"/>
            <a:ext cx="10911535" cy="64008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Yol haritası</a:t>
            </a:r>
            <a:endParaRPr lang="en-US" sz="3600" dirty="0"/>
          </a:p>
        </p:txBody>
      </p:sp>
      <p:sp>
        <p:nvSpPr>
          <p:cNvPr id="3" name="Shape 1"/>
          <p:cNvSpPr/>
          <p:nvPr/>
        </p:nvSpPr>
        <p:spPr>
          <a:xfrm>
            <a:off x="640080" y="1444752"/>
            <a:ext cx="1992112" cy="2487168"/>
          </a:xfrm>
          <a:prstGeom prst="roundRect">
            <a:avLst>
              <a:gd name="adj" fmla="val 4590"/>
            </a:avLst>
          </a:prstGeom>
          <a:solidFill>
            <a:srgbClr val="1A3E52"/>
          </a:solidFill>
          <a:ln w="12700">
            <a:solidFill>
              <a:srgbClr val="2C5871"/>
            </a:solidFill>
            <a:prstDash val="solid"/>
          </a:ln>
        </p:spPr>
      </p:sp>
      <p:sp>
        <p:nvSpPr>
          <p:cNvPr id="4" name="Shape 2"/>
          <p:cNvSpPr/>
          <p:nvPr/>
        </p:nvSpPr>
        <p:spPr>
          <a:xfrm>
            <a:off x="859536" y="1682496"/>
            <a:ext cx="420624" cy="420624"/>
          </a:xfrm>
          <a:prstGeom prst="ellipse">
            <a:avLst/>
          </a:prstGeom>
          <a:solidFill>
            <a:srgbClr val="1C8C6E"/>
          </a:solidFill>
          <a:ln/>
        </p:spPr>
      </p:sp>
      <p:sp>
        <p:nvSpPr>
          <p:cNvPr id="5" name="Text 3"/>
          <p:cNvSpPr txBox="1"/>
          <p:nvPr/>
        </p:nvSpPr>
        <p:spPr>
          <a:xfrm>
            <a:off x="859536" y="168249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6" name="Text 4"/>
          <p:cNvSpPr txBox="1"/>
          <p:nvPr/>
        </p:nvSpPr>
        <p:spPr>
          <a:xfrm>
            <a:off x="859536" y="2249424"/>
            <a:ext cx="1553200" cy="786384"/>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Trendyol Product V2</a:t>
            </a:r>
            <a:endParaRPr lang="en-US" sz="1400" dirty="0"/>
          </a:p>
        </p:txBody>
      </p:sp>
      <p:sp>
        <p:nvSpPr>
          <p:cNvPr id="7" name="Text 5"/>
          <p:cNvSpPr txBox="1"/>
          <p:nvPr/>
        </p:nvSpPr>
        <p:spPr>
          <a:xfrm>
            <a:off x="859536" y="3090672"/>
            <a:ext cx="1553200" cy="566928"/>
          </a:xfrm>
          <a:prstGeom prst="rect">
            <a:avLst/>
          </a:prstGeom>
          <a:noFill/>
          <a:ln/>
        </p:spPr>
        <p:txBody>
          <a:bodyPr wrap="square" lIns="0" tIns="0" rIns="0" bIns="0" rtlCol="0" anchor="t"/>
          <a:lstStyle/>
          <a:p>
            <a:pPr indent="0" marL="0">
              <a:buNone/>
            </a:pPr>
            <a:r>
              <a:rPr lang="en-US" sz="1100" dirty="0">
                <a:solidFill>
                  <a:srgbClr val="C9DEE6"/>
                </a:solidFill>
                <a:latin typeface="Arial" pitchFamily="34" charset="0"/>
                <a:ea typeface="Arial" pitchFamily="34" charset="-122"/>
                <a:cs typeface="Arial" pitchFamily="34" charset="-120"/>
              </a:rPr>
              <a:t>Salt-okur sipariş importu</a:t>
            </a:r>
            <a:endParaRPr lang="en-US" sz="1100" dirty="0"/>
          </a:p>
        </p:txBody>
      </p:sp>
      <p:sp>
        <p:nvSpPr>
          <p:cNvPr id="8" name="Shape 6"/>
          <p:cNvSpPr/>
          <p:nvPr/>
        </p:nvSpPr>
        <p:spPr>
          <a:xfrm>
            <a:off x="2869936" y="1444752"/>
            <a:ext cx="1992112" cy="2487168"/>
          </a:xfrm>
          <a:prstGeom prst="roundRect">
            <a:avLst>
              <a:gd name="adj" fmla="val 4590"/>
            </a:avLst>
          </a:prstGeom>
          <a:solidFill>
            <a:srgbClr val="1A3E52"/>
          </a:solidFill>
          <a:ln w="12700">
            <a:solidFill>
              <a:srgbClr val="2C5871"/>
            </a:solidFill>
            <a:prstDash val="solid"/>
          </a:ln>
        </p:spPr>
      </p:sp>
      <p:sp>
        <p:nvSpPr>
          <p:cNvPr id="9" name="Shape 7"/>
          <p:cNvSpPr/>
          <p:nvPr/>
        </p:nvSpPr>
        <p:spPr>
          <a:xfrm>
            <a:off x="3089392" y="1682496"/>
            <a:ext cx="420624" cy="420624"/>
          </a:xfrm>
          <a:prstGeom prst="ellipse">
            <a:avLst/>
          </a:prstGeom>
          <a:solidFill>
            <a:srgbClr val="1C8C6E"/>
          </a:solidFill>
          <a:ln/>
        </p:spPr>
      </p:sp>
      <p:sp>
        <p:nvSpPr>
          <p:cNvPr id="10" name="Text 8"/>
          <p:cNvSpPr txBox="1"/>
          <p:nvPr/>
        </p:nvSpPr>
        <p:spPr>
          <a:xfrm>
            <a:off x="3089392" y="168249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txBox="1"/>
          <p:nvPr/>
        </p:nvSpPr>
        <p:spPr>
          <a:xfrm>
            <a:off x="3089392" y="2249424"/>
            <a:ext cx="1553200" cy="786384"/>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e-Belge entegratörü</a:t>
            </a:r>
            <a:endParaRPr lang="en-US" sz="1400" dirty="0"/>
          </a:p>
        </p:txBody>
      </p:sp>
      <p:sp>
        <p:nvSpPr>
          <p:cNvPr id="12" name="Text 10"/>
          <p:cNvSpPr txBox="1"/>
          <p:nvPr/>
        </p:nvSpPr>
        <p:spPr>
          <a:xfrm>
            <a:off x="3089392" y="3090672"/>
            <a:ext cx="1553200" cy="566928"/>
          </a:xfrm>
          <a:prstGeom prst="rect">
            <a:avLst/>
          </a:prstGeom>
          <a:noFill/>
          <a:ln/>
        </p:spPr>
        <p:txBody>
          <a:bodyPr wrap="square" lIns="0" tIns="0" rIns="0" bIns="0" rtlCol="0" anchor="t"/>
          <a:lstStyle/>
          <a:p>
            <a:pPr indent="0" marL="0">
              <a:buNone/>
            </a:pPr>
            <a:r>
              <a:rPr lang="en-US" sz="1100" dirty="0">
                <a:solidFill>
                  <a:srgbClr val="C9DEE6"/>
                </a:solidFill>
                <a:latin typeface="Arial" pitchFamily="34" charset="0"/>
                <a:ea typeface="Arial" pitchFamily="34" charset="-122"/>
                <a:cs typeface="Arial" pitchFamily="34" charset="-120"/>
              </a:rPr>
              <a:t>Fatura ve irsaliye akışı</a:t>
            </a:r>
            <a:endParaRPr lang="en-US" sz="1100" dirty="0"/>
          </a:p>
        </p:txBody>
      </p:sp>
      <p:sp>
        <p:nvSpPr>
          <p:cNvPr id="13" name="Shape 11"/>
          <p:cNvSpPr/>
          <p:nvPr/>
        </p:nvSpPr>
        <p:spPr>
          <a:xfrm>
            <a:off x="5099792" y="1444752"/>
            <a:ext cx="1992112" cy="2487168"/>
          </a:xfrm>
          <a:prstGeom prst="roundRect">
            <a:avLst>
              <a:gd name="adj" fmla="val 4590"/>
            </a:avLst>
          </a:prstGeom>
          <a:solidFill>
            <a:srgbClr val="1A3E52"/>
          </a:solidFill>
          <a:ln w="12700">
            <a:solidFill>
              <a:srgbClr val="2C5871"/>
            </a:solidFill>
            <a:prstDash val="solid"/>
          </a:ln>
        </p:spPr>
      </p:sp>
      <p:sp>
        <p:nvSpPr>
          <p:cNvPr id="14" name="Shape 12"/>
          <p:cNvSpPr/>
          <p:nvPr/>
        </p:nvSpPr>
        <p:spPr>
          <a:xfrm>
            <a:off x="5319248" y="1682496"/>
            <a:ext cx="420624" cy="420624"/>
          </a:xfrm>
          <a:prstGeom prst="ellipse">
            <a:avLst/>
          </a:prstGeom>
          <a:solidFill>
            <a:srgbClr val="1C8C6E"/>
          </a:solidFill>
          <a:ln/>
        </p:spPr>
      </p:sp>
      <p:sp>
        <p:nvSpPr>
          <p:cNvPr id="15" name="Text 13"/>
          <p:cNvSpPr txBox="1"/>
          <p:nvPr/>
        </p:nvSpPr>
        <p:spPr>
          <a:xfrm>
            <a:off x="5319248" y="168249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6" name="Text 14"/>
          <p:cNvSpPr txBox="1"/>
          <p:nvPr/>
        </p:nvSpPr>
        <p:spPr>
          <a:xfrm>
            <a:off x="5319248" y="2249424"/>
            <a:ext cx="1553200" cy="786384"/>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Lisanslı açık bankacılık</a:t>
            </a:r>
            <a:endParaRPr lang="en-US" sz="1400" dirty="0"/>
          </a:p>
        </p:txBody>
      </p:sp>
      <p:sp>
        <p:nvSpPr>
          <p:cNvPr id="17" name="Text 15"/>
          <p:cNvSpPr txBox="1"/>
          <p:nvPr/>
        </p:nvSpPr>
        <p:spPr>
          <a:xfrm>
            <a:off x="5319248" y="3090672"/>
            <a:ext cx="1553200" cy="566928"/>
          </a:xfrm>
          <a:prstGeom prst="rect">
            <a:avLst/>
          </a:prstGeom>
          <a:noFill/>
          <a:ln/>
        </p:spPr>
        <p:txBody>
          <a:bodyPr wrap="square" lIns="0" tIns="0" rIns="0" bIns="0" rtlCol="0" anchor="t"/>
          <a:lstStyle/>
          <a:p>
            <a:pPr indent="0" marL="0">
              <a:buNone/>
            </a:pPr>
            <a:r>
              <a:rPr lang="en-US" sz="1100" dirty="0">
                <a:solidFill>
                  <a:srgbClr val="C9DEE6"/>
                </a:solidFill>
                <a:latin typeface="Arial" pitchFamily="34" charset="0"/>
                <a:ea typeface="Arial" pitchFamily="34" charset="-122"/>
                <a:cs typeface="Arial" pitchFamily="34" charset="-120"/>
              </a:rPr>
              <a:t>Hesap hareketi eşleştirme</a:t>
            </a:r>
            <a:endParaRPr lang="en-US" sz="1100" dirty="0"/>
          </a:p>
        </p:txBody>
      </p:sp>
      <p:sp>
        <p:nvSpPr>
          <p:cNvPr id="18" name="Shape 16"/>
          <p:cNvSpPr/>
          <p:nvPr/>
        </p:nvSpPr>
        <p:spPr>
          <a:xfrm>
            <a:off x="7329648" y="1444752"/>
            <a:ext cx="1992112" cy="2487168"/>
          </a:xfrm>
          <a:prstGeom prst="roundRect">
            <a:avLst>
              <a:gd name="adj" fmla="val 4590"/>
            </a:avLst>
          </a:prstGeom>
          <a:solidFill>
            <a:srgbClr val="1A3E52"/>
          </a:solidFill>
          <a:ln w="12700">
            <a:solidFill>
              <a:srgbClr val="2C5871"/>
            </a:solidFill>
            <a:prstDash val="solid"/>
          </a:ln>
        </p:spPr>
      </p:sp>
      <p:sp>
        <p:nvSpPr>
          <p:cNvPr id="19" name="Shape 17"/>
          <p:cNvSpPr/>
          <p:nvPr/>
        </p:nvSpPr>
        <p:spPr>
          <a:xfrm>
            <a:off x="7549104" y="1682496"/>
            <a:ext cx="420624" cy="420624"/>
          </a:xfrm>
          <a:prstGeom prst="ellipse">
            <a:avLst/>
          </a:prstGeom>
          <a:solidFill>
            <a:srgbClr val="1C8C6E"/>
          </a:solidFill>
          <a:ln/>
        </p:spPr>
      </p:sp>
      <p:sp>
        <p:nvSpPr>
          <p:cNvPr id="20" name="Text 18"/>
          <p:cNvSpPr txBox="1"/>
          <p:nvPr/>
        </p:nvSpPr>
        <p:spPr>
          <a:xfrm>
            <a:off x="7549104" y="168249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1" name="Text 19"/>
          <p:cNvSpPr txBox="1"/>
          <p:nvPr/>
        </p:nvSpPr>
        <p:spPr>
          <a:xfrm>
            <a:off x="7549104" y="2249424"/>
            <a:ext cx="1553200" cy="786384"/>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Çok kiracılı SaaS</a:t>
            </a:r>
            <a:endParaRPr lang="en-US" sz="1400" dirty="0"/>
          </a:p>
        </p:txBody>
      </p:sp>
      <p:sp>
        <p:nvSpPr>
          <p:cNvPr id="22" name="Text 20"/>
          <p:cNvSpPr txBox="1"/>
          <p:nvPr/>
        </p:nvSpPr>
        <p:spPr>
          <a:xfrm>
            <a:off x="7549104" y="3090672"/>
            <a:ext cx="1553200" cy="566928"/>
          </a:xfrm>
          <a:prstGeom prst="rect">
            <a:avLst/>
          </a:prstGeom>
          <a:noFill/>
          <a:ln/>
        </p:spPr>
        <p:txBody>
          <a:bodyPr wrap="square" lIns="0" tIns="0" rIns="0" bIns="0" rtlCol="0" anchor="t"/>
          <a:lstStyle/>
          <a:p>
            <a:pPr indent="0" marL="0">
              <a:buNone/>
            </a:pPr>
            <a:r>
              <a:rPr lang="en-US" sz="1100" dirty="0">
                <a:solidFill>
                  <a:srgbClr val="C9DEE6"/>
                </a:solidFill>
                <a:latin typeface="Arial" pitchFamily="34" charset="0"/>
                <a:ea typeface="Arial" pitchFamily="34" charset="-122"/>
                <a:cs typeface="Arial" pitchFamily="34" charset="-120"/>
              </a:rPr>
              <a:t>tenant_id + RLS izolasyonu</a:t>
            </a:r>
            <a:endParaRPr lang="en-US" sz="1100" dirty="0"/>
          </a:p>
        </p:txBody>
      </p:sp>
      <p:sp>
        <p:nvSpPr>
          <p:cNvPr id="23" name="Shape 21"/>
          <p:cNvSpPr/>
          <p:nvPr/>
        </p:nvSpPr>
        <p:spPr>
          <a:xfrm>
            <a:off x="9559503" y="1444752"/>
            <a:ext cx="1992112" cy="2487168"/>
          </a:xfrm>
          <a:prstGeom prst="roundRect">
            <a:avLst>
              <a:gd name="adj" fmla="val 4590"/>
            </a:avLst>
          </a:prstGeom>
          <a:solidFill>
            <a:srgbClr val="1A3E52"/>
          </a:solidFill>
          <a:ln w="12700">
            <a:solidFill>
              <a:srgbClr val="2C5871"/>
            </a:solidFill>
            <a:prstDash val="solid"/>
          </a:ln>
        </p:spPr>
      </p:sp>
      <p:sp>
        <p:nvSpPr>
          <p:cNvPr id="24" name="Shape 22"/>
          <p:cNvSpPr/>
          <p:nvPr/>
        </p:nvSpPr>
        <p:spPr>
          <a:xfrm>
            <a:off x="9778959" y="1682496"/>
            <a:ext cx="420624" cy="420624"/>
          </a:xfrm>
          <a:prstGeom prst="ellipse">
            <a:avLst/>
          </a:prstGeom>
          <a:solidFill>
            <a:srgbClr val="1C8C6E"/>
          </a:solidFill>
          <a:ln/>
        </p:spPr>
      </p:sp>
      <p:sp>
        <p:nvSpPr>
          <p:cNvPr id="25" name="Text 23"/>
          <p:cNvSpPr txBox="1"/>
          <p:nvPr/>
        </p:nvSpPr>
        <p:spPr>
          <a:xfrm>
            <a:off x="9778959" y="168249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9778959" y="2249424"/>
            <a:ext cx="1553200" cy="786384"/>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Azure referans mimari</a:t>
            </a:r>
            <a:endParaRPr lang="en-US" sz="1400" dirty="0"/>
          </a:p>
        </p:txBody>
      </p:sp>
      <p:sp>
        <p:nvSpPr>
          <p:cNvPr id="27" name="Text 25"/>
          <p:cNvSpPr txBox="1"/>
          <p:nvPr/>
        </p:nvSpPr>
        <p:spPr>
          <a:xfrm>
            <a:off x="9778959" y="3090672"/>
            <a:ext cx="1553200" cy="566928"/>
          </a:xfrm>
          <a:prstGeom prst="rect">
            <a:avLst/>
          </a:prstGeom>
          <a:noFill/>
          <a:ln/>
        </p:spPr>
        <p:txBody>
          <a:bodyPr wrap="square" lIns="0" tIns="0" rIns="0" bIns="0" rtlCol="0" anchor="t"/>
          <a:lstStyle/>
          <a:p>
            <a:pPr indent="0" marL="0">
              <a:buNone/>
            </a:pPr>
            <a:r>
              <a:rPr lang="en-US" sz="1100" dirty="0">
                <a:solidFill>
                  <a:srgbClr val="C9DEE6"/>
                </a:solidFill>
                <a:latin typeface="Arial" pitchFamily="34" charset="0"/>
                <a:ea typeface="Arial" pitchFamily="34" charset="-122"/>
                <a:cs typeface="Arial" pitchFamily="34" charset="-120"/>
              </a:rPr>
              <a:t>Kurumsal kimlik ve yönetişim</a:t>
            </a:r>
            <a:endParaRPr lang="en-US" sz="1100" dirty="0"/>
          </a:p>
        </p:txBody>
      </p:sp>
      <p:sp>
        <p:nvSpPr>
          <p:cNvPr id="28" name="Text 26"/>
          <p:cNvSpPr txBox="1"/>
          <p:nvPr/>
        </p:nvSpPr>
        <p:spPr>
          <a:xfrm>
            <a:off x="640080" y="4315968"/>
            <a:ext cx="10911535" cy="868680"/>
          </a:xfrm>
          <a:prstGeom prst="rect">
            <a:avLst/>
          </a:prstGeom>
          <a:noFill/>
          <a:ln/>
        </p:spPr>
        <p:txBody>
          <a:bodyPr wrap="square" lIns="0" tIns="0" rIns="0" bIns="0" rtlCol="0" anchor="ctr"/>
          <a:lstStyle/>
          <a:p>
            <a:pPr indent="0" marL="0">
              <a:buNone/>
            </a:pPr>
            <a:r>
              <a:rPr lang="en-US" sz="4000" b="1" dirty="0">
                <a:solidFill>
                  <a:srgbClr val="7FD9BC"/>
                </a:solidFill>
                <a:latin typeface="Arial" pitchFamily="34" charset="0"/>
                <a:ea typeface="Arial" pitchFamily="34" charset="-122"/>
                <a:cs typeface="Arial" pitchFamily="34" charset="-120"/>
              </a:rPr>
              <a:t>Karmaşıklık arkada, karar önünde.</a:t>
            </a:r>
            <a:endParaRPr lang="en-US" sz="4000" dirty="0"/>
          </a:p>
        </p:txBody>
      </p:sp>
      <p:sp>
        <p:nvSpPr>
          <p:cNvPr id="29" name="Text 27"/>
          <p:cNvSpPr txBox="1"/>
          <p:nvPr/>
        </p:nvSpPr>
        <p:spPr>
          <a:xfrm>
            <a:off x="640080" y="5230368"/>
            <a:ext cx="10911535" cy="41148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LLM sorguyu yazar · rakamı veritabanı verir · siparişi insan onaylar.</a:t>
            </a:r>
            <a:endParaRPr lang="en-US" sz="1700" dirty="0"/>
          </a:p>
        </p:txBody>
      </p:sp>
      <p:sp>
        <p:nvSpPr>
          <p:cNvPr id="30" name="Text 28"/>
          <p:cNvSpPr txBox="1"/>
          <p:nvPr/>
        </p:nvSpPr>
        <p:spPr>
          <a:xfrm>
            <a:off x="640080" y="5897880"/>
            <a:ext cx="10911535" cy="365760"/>
          </a:xfrm>
          <a:prstGeom prst="rect">
            <a:avLst/>
          </a:prstGeom>
          <a:noFill/>
          <a:ln/>
        </p:spPr>
        <p:txBody>
          <a:bodyPr wrap="square" lIns="0" tIns="0" rIns="0" bIns="0" rtlCol="0" anchor="ctr"/>
          <a:lstStyle/>
          <a:p>
            <a:pPr indent="0" marL="0">
              <a:buNone/>
            </a:pPr>
            <a:r>
              <a:rPr lang="en-US" sz="1300" dirty="0">
                <a:solidFill>
                  <a:srgbClr val="C9DEE6"/>
                </a:solidFill>
                <a:latin typeface="Arial" pitchFamily="34" charset="0"/>
                <a:ea typeface="Arial" pitchFamily="34" charset="-122"/>
                <a:cs typeface="Arial" pitchFamily="34" charset="-120"/>
              </a:rPr>
              <a:t>Teşekkürler  ·  OtoHesap  ·  TeknoKampüs Arena 2026</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Medeniyet Teknopark TeknoKampüs Arena 2026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OtoHesap — Verinizi anlayın. İşinizi yönetin.</dc:title>
  <dc:subject>PptxGenJS Presentation</dc:subject>
  <dc:creator>OtoHesap ekibi</dc:creator>
  <cp:lastModifiedBy>OtoHesap ekibi</cp:lastModifiedBy>
  <cp:revision>1</cp:revision>
  <dcterms:created xsi:type="dcterms:W3CDTF">2026-09-13T15:19:24Z</dcterms:created>
  <dcterms:modified xsi:type="dcterms:W3CDTF">2026-09-13T15:19:24Z</dcterms:modified>
</cp:coreProperties>
</file>