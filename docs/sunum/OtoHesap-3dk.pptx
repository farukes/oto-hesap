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0:00–0:20. Adı söyle, tek cümle: küçük işletme için gelir-gider ve stok; Türkçe soruyla cevap; stok azalınca onaylı sipariş.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0:20–0:50. Her 100 işletmeden 99'u KOBİ; 3,9 milyon. İstihdamın %68'i, cironun %44'ü. Her 3 KOBİ'den 1'i ticarette: alıyor, satıyor, stok tutuyor. Günlük dert: Excel, geç fark edilen stok, menülerde dolaşma.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0:50–1:20. Birincisi: gelir, gider, fark ve kritik ürün tek ekranda. Sistem kendisi uyarıyor: iki ürün kritik stokta, reklam gideri artmış.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1:20–1:55. Solda bugünkü hâl, sağda OtoHesap. Soruyu Türkçe yazıyorsunuz; cevap kendi verinizden geliyor, uydurma değil. Yapay zekâ veriyi sadece okur; şüpheli sorgu çalışmaz, uyarı verir. Cevap: Powerbank.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1:55–2:35. Stok azalınca sistem miktarı ve tutarı hesaplayıp taslağı hazırlar; kendi başına sipariş vermez. Siz onaylarsınız, mesaj tedarikçinin Telegram'ına düşer. Onaysız hiçbir mesaj gitmez.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2:35–2:55. İsimler. Sırada pazaryeri siparişleri ve e-belge. Teşekkürler.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FD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 ADI</a:t>
            </a:r>
            <a:endParaRPr lang="en-US" sz="1400" dirty="0"/>
          </a:p>
        </p:txBody>
      </p:sp>
      <p:pic>
        <p:nvPicPr>
          <p:cNvPr id="3" name="Image 0" descr="/Users/muratates/code/Oto-Hesap/docs/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00200"/>
            <a:ext cx="1554480" cy="1554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560320" y="1325880"/>
            <a:ext cx="9144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</a:t>
            </a:r>
            <a:endParaRPr lang="en-US" sz="8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5204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7FD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Küçük işletmeler için gelir-gider ve stok takibi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51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kazandım, ne harcadım, stokta ne bitiyor? Türkçe sorun, cevabı alın.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731520" y="5212080"/>
            <a:ext cx="10728655" cy="0"/>
          </a:xfrm>
          <a:prstGeom prst="line">
            <a:avLst/>
          </a:prstGeom>
          <a:noFill/>
          <a:ln w="12700">
            <a:solidFill>
              <a:srgbClr val="2E4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39496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Kutay Yıldırım   ·   Muratcan Ateş   ·   Yiğit Yuşa Kartal   ·   Ömer Faruk Eskitürk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89788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Medeniyet Teknopark · TeknoKampüs Arena · 14 Eylül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97280" cy="73152"/>
          </a:xfrm>
          <a:prstGeom prst="rect">
            <a:avLst/>
          </a:prstGeom>
          <a:solidFill>
            <a:srgbClr val="1C8C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0" y="685800"/>
            <a:ext cx="2133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Küçük işletme çok, zamanı az</a:t>
            </a:r>
            <a:endParaRPr lang="en-US" sz="1600" dirty="0"/>
          </a:p>
        </p:txBody>
      </p:sp>
      <p:pic>
        <p:nvPicPr>
          <p:cNvPr id="5" name="Image 0" descr="/Users/muratates/code/Oto-Hesap/docs/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2703" y="6291072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 · TeknoKampüs Arena · 14 Eylül 2026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31520" y="1783080"/>
            <a:ext cx="745236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19019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KOBİ'lerin Türkiye ekonomisindeki payı</a:t>
            </a:r>
            <a:endParaRPr lang="en-US" sz="1700" dirty="0"/>
          </a:p>
        </p:txBody>
      </p:sp>
      <p:pic>
        <p:nvPicPr>
          <p:cNvPr id="9" name="Image 1" descr="/Users/muratates/code/Oto-Hesap/docs/img/tuik-grafi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331720"/>
            <a:ext cx="6995160" cy="223113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05840" y="46177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Kaynak: TÜİK, Küçük ve Orta Büyüklükteki Girişim İstatistikleri, 2024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412480" y="1828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3,9 milyon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8412480" y="2606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KOBİ</a:t>
            </a:r>
            <a:endParaRPr lang="en-US" sz="2600" dirty="0"/>
          </a:p>
        </p:txBody>
      </p:sp>
      <p:sp>
        <p:nvSpPr>
          <p:cNvPr id="13" name="Text 9"/>
          <p:cNvSpPr txBox="1"/>
          <p:nvPr/>
        </p:nvSpPr>
        <p:spPr>
          <a:xfrm>
            <a:off x="8412480" y="320040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Türkiye'deki her 100 işletmeden 99'u KOBİ.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3 KOBİ'den 1'i ticaret yapıyor: mal alıyor, satıyor, stok tutuyor.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731520" y="5257800"/>
            <a:ext cx="3423818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60120" y="5477256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1417320" y="5257800"/>
            <a:ext cx="26008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Rapor için Excel'le boğuşuyor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383938" y="5257800"/>
            <a:ext cx="3423818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612538" y="5477256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069738" y="5257800"/>
            <a:ext cx="26008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Stoğun bittiğini müşteri sorunca fark ediyor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8036357" y="5257800"/>
            <a:ext cx="3423818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264957" y="5477256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8722157" y="5257800"/>
            <a:ext cx="26008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Basit bir sorunun cevabı için menülerde dolaşıyor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 ekranda gelir, gider, stok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97280" cy="73152"/>
          </a:xfrm>
          <a:prstGeom prst="rect">
            <a:avLst/>
          </a:prstGeom>
          <a:solidFill>
            <a:srgbClr val="1C8C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0" y="685800"/>
            <a:ext cx="2133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Çözüm</a:t>
            </a:r>
            <a:endParaRPr lang="en-US" sz="1600" dirty="0"/>
          </a:p>
        </p:txBody>
      </p:sp>
      <p:pic>
        <p:nvPicPr>
          <p:cNvPr id="5" name="Image 0" descr="/Users/muratates/code/Oto-Hesap/docs/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2703" y="6291072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 · TeknoKampüs Arena · 14 Eylül 2026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 · Genel Bakış ekranı</a:t>
            </a:r>
            <a:endParaRPr lang="en-US" sz="1300" dirty="0"/>
          </a:p>
        </p:txBody>
      </p:sp>
      <p:pic>
        <p:nvPicPr>
          <p:cNvPr id="8" name="Image 1" descr="/Users/muratates/code/Oto-Hesap/docs/img/genel-baki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1783080"/>
            <a:ext cx="6949440" cy="43434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31520" y="1783080"/>
            <a:ext cx="6949440" cy="4343400"/>
          </a:xfrm>
          <a:prstGeom prst="rect">
            <a:avLst/>
          </a:prstGeom>
          <a:ln w="12700">
            <a:solidFill>
              <a:srgbClr val="D3E4D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001000" y="1783080"/>
            <a:ext cx="3459175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0" y="1920240"/>
            <a:ext cx="3001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 ay ne kazandım, ne harcadım?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8229600" y="2331720"/>
            <a:ext cx="3001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Gelir, gider ve aradaki fark tek bakışta. Ay, çeyrek veya yarıyıl seçilir.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001000" y="3264408"/>
            <a:ext cx="3459175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0" y="3401568"/>
            <a:ext cx="3001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Stokta ne bitiyor?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229600" y="3813048"/>
            <a:ext cx="3001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Kritik seviyeye inen ürünleri sistem kendisi söyler; siz aramazsınız.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001000" y="4745736"/>
            <a:ext cx="3459175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0" y="4882896"/>
            <a:ext cx="3001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Gidişat nasıl?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8229600" y="5294376"/>
            <a:ext cx="3001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Aylık gelir-gider grafiği. Bir giderde sıçrama olunca uyarır.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Türkçe sor, cevabı al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97280" cy="73152"/>
          </a:xfrm>
          <a:prstGeom prst="rect">
            <a:avLst/>
          </a:prstGeom>
          <a:solidFill>
            <a:srgbClr val="1C8C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0" y="685800"/>
            <a:ext cx="2133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Çözüm</a:t>
            </a:r>
            <a:endParaRPr lang="en-US" sz="1600" dirty="0"/>
          </a:p>
        </p:txBody>
      </p:sp>
      <p:pic>
        <p:nvPicPr>
          <p:cNvPr id="5" name="Image 0" descr="/Users/muratates/code/Oto-Hesap/docs/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2703" y="6291072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 · TeknoKampüs Arena · 14 Eylül 2026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41732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Bugün: cevabı Excel'de arıyorsunuz</a:t>
            </a:r>
            <a:endParaRPr lang="en-US" sz="1300" dirty="0"/>
          </a:p>
        </p:txBody>
      </p:sp>
      <p:pic>
        <p:nvPicPr>
          <p:cNvPr id="8" name="Image 1" descr="/Users/muratates/code/Oto-Hesap/docs/img/excel-karmas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1783080"/>
            <a:ext cx="5074920" cy="317296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31520" y="1783080"/>
            <a:ext cx="5074920" cy="3172968"/>
          </a:xfrm>
          <a:prstGeom prst="rect">
            <a:avLst/>
          </a:prstGeom>
          <a:ln w="12700">
            <a:solidFill>
              <a:srgbClr val="D3E4D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5255" y="141732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OtoHesap: "En çok kazancım hangi üründen?"</a:t>
            </a:r>
            <a:endParaRPr lang="en-US" sz="1300" dirty="0"/>
          </a:p>
        </p:txBody>
      </p:sp>
      <p:pic>
        <p:nvPicPr>
          <p:cNvPr id="11" name="Image 2" descr="/Users/muratates/code/Oto-Hesap/docs/img/asistan-sad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85255" y="1783080"/>
            <a:ext cx="5074920" cy="317296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385255" y="1783080"/>
            <a:ext cx="5074920" cy="3172968"/>
          </a:xfrm>
          <a:prstGeom prst="rect">
            <a:avLst/>
          </a:prstGeom>
          <a:ln w="12700">
            <a:solidFill>
              <a:srgbClr val="D3E4D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760720" y="3017520"/>
            <a:ext cx="685800" cy="685800"/>
          </a:xfrm>
          <a:prstGeom prst="ellipse">
            <a:avLst/>
          </a:prstGeom>
          <a:solidFill>
            <a:srgbClr val="1C8C6E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5760720" y="3017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</a:t>
            </a:r>
            <a:endParaRPr lang="en-US" sz="2600" dirty="0"/>
          </a:p>
        </p:txBody>
      </p:sp>
      <p:sp>
        <p:nvSpPr>
          <p:cNvPr id="15" name="Shape 10"/>
          <p:cNvSpPr/>
          <p:nvPr/>
        </p:nvSpPr>
        <p:spPr>
          <a:xfrm>
            <a:off x="731520" y="5212080"/>
            <a:ext cx="3454298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68680" y="5212080"/>
            <a:ext cx="31799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Cevap kendi verinizden gelir, uydurma değil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4368698" y="5212080"/>
            <a:ext cx="3454298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505858" y="5212080"/>
            <a:ext cx="31799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Yapay zekâ veriyi sadece okur, değiştiremez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8005877" y="5212080"/>
            <a:ext cx="3454298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143037" y="5212080"/>
            <a:ext cx="31799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Şüpheli sorgu çalışmaz, uyarı verir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731520" y="594360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Merak eden, arkadaki sorguyu tek tıkla görebilir.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Stok azalınca otomatik sipariş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97280" cy="73152"/>
          </a:xfrm>
          <a:prstGeom prst="rect">
            <a:avLst/>
          </a:prstGeom>
          <a:solidFill>
            <a:srgbClr val="1C8C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0" y="685800"/>
            <a:ext cx="2133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Çözüm</a:t>
            </a:r>
            <a:endParaRPr lang="en-US" sz="1600" dirty="0"/>
          </a:p>
        </p:txBody>
      </p:sp>
      <p:pic>
        <p:nvPicPr>
          <p:cNvPr id="5" name="Image 0" descr="/Users/muratates/code/Oto-Hesap/docs/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2703" y="6291072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 · TeknoKampüs Arena · 14 Eylül 2026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31520" y="1737360"/>
            <a:ext cx="2373554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737360"/>
            <a:ext cx="20992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Stok azalır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105074" y="173736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516554" y="1737360"/>
            <a:ext cx="2373554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53714" y="1737360"/>
            <a:ext cx="20992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Sistem sipariş taslağı hazırlar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890108" y="173736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301588" y="1737360"/>
            <a:ext cx="2373554" cy="685800"/>
          </a:xfrm>
          <a:prstGeom prst="roundRect">
            <a:avLst>
              <a:gd name="adj" fmla="val 16000"/>
            </a:avLst>
          </a:prstGeom>
          <a:solidFill>
            <a:srgbClr val="0F2A3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38748" y="1737360"/>
            <a:ext cx="20992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Siz onaylarsınız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675141" y="173736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9086621" y="1737360"/>
            <a:ext cx="2373554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223781" y="1737360"/>
            <a:ext cx="20992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Tedarikçiye mesaj gider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26517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Stok ekranı: azalan ürünler</a:t>
            </a:r>
            <a:endParaRPr lang="en-US" sz="1300" dirty="0"/>
          </a:p>
        </p:txBody>
      </p:sp>
      <p:pic>
        <p:nvPicPr>
          <p:cNvPr id="19" name="Image 1" descr="/Users/muratates/code/Oto-Hesap/docs/img/sto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3017520"/>
            <a:ext cx="4160520" cy="260604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731520" y="3017520"/>
            <a:ext cx="4160520" cy="2606040"/>
          </a:xfrm>
          <a:prstGeom prst="rect">
            <a:avLst/>
          </a:prstGeom>
          <a:ln w="12700">
            <a:solidFill>
              <a:srgbClr val="D3E4DD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074920" y="26517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Tedarik ekranı: taslak, onay, gönderim</a:t>
            </a:r>
            <a:endParaRPr lang="en-US" sz="1300" dirty="0"/>
          </a:p>
        </p:txBody>
      </p:sp>
      <p:pic>
        <p:nvPicPr>
          <p:cNvPr id="22" name="Image 2" descr="/Users/muratates/code/Oto-Hesap/docs/img/tedarik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74920" y="3017520"/>
            <a:ext cx="4160520" cy="260604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5074920" y="3017520"/>
            <a:ext cx="4160520" cy="2606040"/>
          </a:xfrm>
          <a:prstGeom prst="rect">
            <a:avLst/>
          </a:prstGeom>
          <a:ln w="12700">
            <a:solidFill>
              <a:srgbClr val="D3E4DD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418320" y="2651760"/>
            <a:ext cx="2041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Tedarikçinin telefonu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9418320" y="3017520"/>
            <a:ext cx="2041855" cy="2606040"/>
          </a:xfrm>
          <a:prstGeom prst="roundRect">
            <a:avLst>
              <a:gd name="adj" fmla="val 5374"/>
            </a:avLst>
          </a:prstGeom>
          <a:solidFill>
            <a:srgbClr val="0F2A3C"/>
          </a:solidFill>
          <a:ln/>
        </p:spPr>
      </p:sp>
      <p:sp>
        <p:nvSpPr>
          <p:cNvPr id="26" name="Shape 21"/>
          <p:cNvSpPr/>
          <p:nvPr/>
        </p:nvSpPr>
        <p:spPr>
          <a:xfrm>
            <a:off x="9555480" y="3200400"/>
            <a:ext cx="1767535" cy="2103120"/>
          </a:xfrm>
          <a:prstGeom prst="roundRect">
            <a:avLst>
              <a:gd name="adj" fmla="val 6208"/>
            </a:avLst>
          </a:prstGeom>
          <a:solidFill>
            <a:srgbClr val="1F3D5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9665208" y="3291840"/>
            <a:ext cx="1548079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Merhaba Anadolu Güç Sistemleri, OtoHesap Demo Mağaza için sipariş talebi: Powerbank 20000 mAh × 63 adet. Tahmini tutar 69.300,00 ₺. Teslim süresi 3 gün. Onay için bu mesajı yanıtlayabilirsiniz. — OtoHesap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9555480" y="5303520"/>
            <a:ext cx="1767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D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· 13 Eylül 21:19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 onaylamadan hiçbir mesaj gitmez.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Ekip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97280" cy="73152"/>
          </a:xfrm>
          <a:prstGeom prst="rect">
            <a:avLst/>
          </a:prstGeom>
          <a:solidFill>
            <a:srgbClr val="1C8C6E"/>
          </a:solidFill>
          <a:ln/>
        </p:spPr>
      </p:sp>
      <p:pic>
        <p:nvPicPr>
          <p:cNvPr id="4" name="Image 0" descr="/Users/muratates/code/Oto-Hesap/docs/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2703" y="6291072"/>
            <a:ext cx="347472" cy="3474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OtoHesap · TeknoKampüs Arena · 14 Eylül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31520" y="2011680"/>
            <a:ext cx="254500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592542" y="2286000"/>
            <a:ext cx="822960" cy="822960"/>
          </a:xfrm>
          <a:prstGeom prst="ellipse">
            <a:avLst/>
          </a:prstGeom>
          <a:solidFill>
            <a:srgbClr val="1C8C6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592542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46120"/>
            <a:ext cx="22706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Kutay Yıldırım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3459404" y="2011680"/>
            <a:ext cx="254500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20426" y="2286000"/>
            <a:ext cx="822960" cy="822960"/>
          </a:xfrm>
          <a:prstGeom prst="ellipse">
            <a:avLst/>
          </a:prstGeom>
          <a:solidFill>
            <a:srgbClr val="1C8C6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320426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596564" y="3246120"/>
            <a:ext cx="22706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Muratcan Ateş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187288" y="2011680"/>
            <a:ext cx="254500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48310" y="2286000"/>
            <a:ext cx="822960" cy="822960"/>
          </a:xfrm>
          <a:prstGeom prst="ellipse">
            <a:avLst/>
          </a:prstGeom>
          <a:solidFill>
            <a:srgbClr val="1C8C6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04831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ÖE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324448" y="3246120"/>
            <a:ext cx="22706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Ömer Faruk Eskitürk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8915171" y="2011680"/>
            <a:ext cx="254500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3E4D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776193" y="2286000"/>
            <a:ext cx="822960" cy="822960"/>
          </a:xfrm>
          <a:prstGeom prst="ellipse">
            <a:avLst/>
          </a:prstGeom>
          <a:solidFill>
            <a:srgbClr val="1C8C6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776193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YK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9052331" y="3246120"/>
            <a:ext cx="22706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Yiğit Yuşa Kartal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438912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Medeniyet Teknopark · TeknoKampüs Arena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31520" y="521208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Sırada: pazaryeri siparişleri · e-belge · çok kullanıcılı sürüm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571500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github.com/muratcan-ates/Oto-Hesap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OtoHesap — 14 Eylül 2026</dc:title>
  <dc:subject>PptxGenJS Presentation</dc:subject>
  <dc:creator>PptxGenJS</dc:creator>
  <cp:lastModifiedBy>PptxGenJS</cp:lastModifiedBy>
  <cp:revision>1</cp:revision>
  <dcterms:created xsi:type="dcterms:W3CDTF">2026-09-14T06:35:17Z</dcterms:created>
  <dcterms:modified xsi:type="dcterms:W3CDTF">2026-09-14T06:35:17Z</dcterms:modified>
</cp:coreProperties>
</file>