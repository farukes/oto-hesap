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Pay (%)</c:v>
                </c:pt>
              </c:strCache>
            </c:strRef>
          </c:tx>
          <c:spPr>
            <a:solidFill>
              <a:srgbClr val="1C8C6E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2303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Girişim sayısı</c:v>
                  </c:pt>
                  <c:pt idx="1">
                    <c:v>İstihdam</c:v>
                  </c:pt>
                  <c:pt idx="2">
                    <c:v>Ciro</c:v>
                  </c:pt>
                  <c:pt idx="3">
                    <c:v>Ticaretteki KOBİ payı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99.6</c:v>
                </c:pt>
                <c:pt idx="1">
                  <c:v>68.5</c:v>
                </c:pt>
                <c:pt idx="2">
                  <c:v>44.1</c:v>
                </c:pt>
                <c:pt idx="3">
                  <c:v>35.1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1" i="0" strike="noStrike" sz="1400" u="none">
                  <a:solidFill>
                    <a:srgbClr val="12303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230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 sn. Adı söyle, sloganı söyle, tek cümle: KOBİ için finans + stok, Türkçe soruyla veri, insan onaylı sipariş. Ekip isimleri.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35 sn. Türkiye'de 3,9 milyon KOBİ; istihdamın %68,5'i, cironun %44,1'i. Üçte biri ticarette: stok ve nakit derdi her gün. Excel'de rapor kovalıyor, stok bitince geç fark ediyor, bir sorunun cevabı için menülerde dolaşıyor.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25 sn, sonra canlıya geç. Sol: bugünkü hâl. Sağ: OtoHesap. Model yalnız SQL'i yazar, rakam veritabanından, sorgu görünür. Kritik stokta ajan taslağı hazırlar, onay bizde, mesaj telefona düşer. Şimdi canlı.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 sn. İş bölümü. Bir günde çalışan ürün, 185 test, kod açık. Sırada Trendyol sipariş akışı, e-belge, çok kiracılı sürüm. Teşekkürler.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A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400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7FD9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 ADI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731520" y="1737360"/>
            <a:ext cx="1143000" cy="1143000"/>
          </a:xfrm>
          <a:prstGeom prst="roundRect">
            <a:avLst>
              <a:gd name="adj" fmla="val 17600"/>
            </a:avLst>
          </a:prstGeom>
          <a:solidFill>
            <a:srgbClr val="1C8C6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↗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2148840" y="1463040"/>
            <a:ext cx="9144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OtoHesap</a:t>
            </a:r>
            <a:endParaRPr lang="en-US" sz="8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429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7FD9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Verinizi anlayın. İşinizi yönetin.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42062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9D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KOBİ'ler için yapay zekâ destekli finans + stok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731520" y="5212080"/>
            <a:ext cx="10728655" cy="0"/>
          </a:xfrm>
          <a:prstGeom prst="line">
            <a:avLst/>
          </a:prstGeom>
          <a:noFill/>
          <a:ln w="12700">
            <a:solidFill>
              <a:srgbClr val="2E4A5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5394960"/>
            <a:ext cx="10728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Kutay Yıldırım   ·   Muratcan Ateş   ·   Yiğit Yuşa Kartal   ·   Ömer Faruk Eskitürk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5897880"/>
            <a:ext cx="107286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Medeniyet Teknopark · TeknoKampüs Arena · 14 Eylül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B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029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F2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731520" y="1371600"/>
            <a:ext cx="1097280" cy="73152"/>
          </a:xfrm>
          <a:prstGeom prst="rect">
            <a:avLst/>
          </a:prstGeom>
          <a:solidFill>
            <a:srgbClr val="1C8C6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943600" y="685800"/>
            <a:ext cx="55165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4A6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KOBİ ekonominin omurgası; veriye erişimi zayıf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A0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OtoHesap · TeknoKampüs Arena · 14 Eylül 2026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31520" y="1783080"/>
            <a:ext cx="6492240" cy="420624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12700">
            <a:solidFill>
              <a:srgbClr val="D3E4D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05840" y="192024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KOBİ'lerin Türkiye ekonomisindeki payı</a:t>
            </a:r>
            <a:endParaRPr lang="en-US" sz="16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914400" y="2377440"/>
          <a:ext cx="612648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 txBox="1"/>
          <p:nvPr/>
        </p:nvSpPr>
        <p:spPr>
          <a:xfrm>
            <a:off x="1005840" y="557784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A6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Kaynak: TÜİK, Küçük ve Orta Büyüklükteki Girişim İstatistikleri, 2024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7680960" y="1783080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C8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3,9 milyon</a:t>
            </a:r>
            <a:endParaRPr lang="en-US" sz="5400" dirty="0"/>
          </a:p>
        </p:txBody>
      </p:sp>
      <p:sp>
        <p:nvSpPr>
          <p:cNvPr id="11" name="Text 8"/>
          <p:cNvSpPr txBox="1"/>
          <p:nvPr/>
        </p:nvSpPr>
        <p:spPr>
          <a:xfrm>
            <a:off x="7680960" y="269748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6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KOBİ · girişimlerin %99,6'sı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7726680" y="3520440"/>
            <a:ext cx="329184" cy="32918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229600" y="3429000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2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Excel'de rapor kovalar</a:t>
            </a:r>
            <a:endParaRPr lang="en-US" sz="1900" dirty="0"/>
          </a:p>
        </p:txBody>
      </p:sp>
      <p:sp>
        <p:nvSpPr>
          <p:cNvPr id="14" name="Shape 11"/>
          <p:cNvSpPr/>
          <p:nvPr/>
        </p:nvSpPr>
        <p:spPr>
          <a:xfrm>
            <a:off x="7726680" y="4297680"/>
            <a:ext cx="329184" cy="32918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229600" y="4206240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2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Stok bitince geç fark eder</a:t>
            </a:r>
            <a:endParaRPr lang="en-US" sz="1900" dirty="0"/>
          </a:p>
        </p:txBody>
      </p:sp>
      <p:sp>
        <p:nvSpPr>
          <p:cNvPr id="16" name="Shape 13"/>
          <p:cNvSpPr/>
          <p:nvPr/>
        </p:nvSpPr>
        <p:spPr>
          <a:xfrm>
            <a:off x="7726680" y="5074920"/>
            <a:ext cx="329184" cy="32918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229600" y="4983480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2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Cevap için menülerde dolaşır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B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029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F2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Çözüm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731520" y="1371600"/>
            <a:ext cx="1097280" cy="73152"/>
          </a:xfrm>
          <a:prstGeom prst="rect">
            <a:avLst/>
          </a:prstGeom>
          <a:solidFill>
            <a:srgbClr val="1C8C6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943600" y="685800"/>
            <a:ext cx="55165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4A6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Sor. Gör. Onayla.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A0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OtoHesap · TeknoKampüs Arena · 14 Eylül 2026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399032"/>
            <a:ext cx="5074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BUGÜN · Excel</a:t>
            </a:r>
            <a:endParaRPr lang="en-US" sz="1300" dirty="0"/>
          </a:p>
        </p:txBody>
      </p:sp>
      <p:pic>
        <p:nvPicPr>
          <p:cNvPr id="7" name="Image 0" descr="/Users/muratates/code/Oto-Hesap/docs/img/excel-karmas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" y="1783080"/>
            <a:ext cx="5074920" cy="324612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31520" y="1783080"/>
            <a:ext cx="5074920" cy="3246120"/>
          </a:xfrm>
          <a:prstGeom prst="rect">
            <a:avLst/>
          </a:prstGeom>
          <a:ln w="12700">
            <a:solidFill>
              <a:srgbClr val="D3E4D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385255" y="1399032"/>
            <a:ext cx="5074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8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OTOHESAP · sor, yanıtı ve sorguyu gör</a:t>
            </a:r>
            <a:endParaRPr lang="en-US" sz="1300" dirty="0"/>
          </a:p>
        </p:txBody>
      </p:sp>
      <p:pic>
        <p:nvPicPr>
          <p:cNvPr id="10" name="Image 1" descr="/Users/muratates/code/Oto-Hesap/docs/img/asistan-kirpik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385255" y="1783080"/>
            <a:ext cx="5074920" cy="32461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6385255" y="1783080"/>
            <a:ext cx="5074920" cy="3246120"/>
          </a:xfrm>
          <a:prstGeom prst="rect">
            <a:avLst/>
          </a:prstGeom>
          <a:ln w="12700">
            <a:solidFill>
              <a:srgbClr val="D3E4DD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5760720" y="3017520"/>
            <a:ext cx="685800" cy="685800"/>
          </a:xfrm>
          <a:prstGeom prst="ellipse">
            <a:avLst/>
          </a:prstGeom>
          <a:solidFill>
            <a:srgbClr val="1C8C6E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5760720" y="30175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➜</a:t>
            </a:r>
            <a:endParaRPr lang="en-US" sz="2600" dirty="0"/>
          </a:p>
        </p:txBody>
      </p:sp>
      <p:sp>
        <p:nvSpPr>
          <p:cNvPr id="14" name="Shape 10"/>
          <p:cNvSpPr/>
          <p:nvPr/>
        </p:nvSpPr>
        <p:spPr>
          <a:xfrm>
            <a:off x="731520" y="5349240"/>
            <a:ext cx="3454298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D3E4DD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868680" y="5349240"/>
            <a:ext cx="31799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8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Gelir-gider panosu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4368698" y="5349240"/>
            <a:ext cx="3454298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D3E4DD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4505858" y="5349240"/>
            <a:ext cx="31799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8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Türkçe soru → görünür SQL · yalnız okur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8005877" y="5349240"/>
            <a:ext cx="3454298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D3E4DD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8143037" y="5349240"/>
            <a:ext cx="31799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8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Kritik stok → insan onayı → Telegram</a:t>
            </a:r>
            <a:endParaRPr lang="en-US" sz="1300" dirty="0"/>
          </a:p>
        </p:txBody>
      </p:sp>
      <p:sp>
        <p:nvSpPr>
          <p:cNvPr id="20" name="Text 16"/>
          <p:cNvSpPr txBox="1"/>
          <p:nvPr/>
        </p:nvSpPr>
        <p:spPr>
          <a:xfrm>
            <a:off x="8716975" y="60350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C8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  Canlı demo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B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029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F2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Ekip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731520" y="1371600"/>
            <a:ext cx="1097280" cy="73152"/>
          </a:xfrm>
          <a:prstGeom prst="rect">
            <a:avLst/>
          </a:prstGeom>
          <a:solidFill>
            <a:srgbClr val="1C8C6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943600" y="685800"/>
            <a:ext cx="55165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4A6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kişi · 1 gün · uçtan uca çalışan ürün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A0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OtoHesap · TeknoKampüs Arena · 14 Eylül 2026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31520" y="1783080"/>
            <a:ext cx="2545004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3E4D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60120" y="2011680"/>
            <a:ext cx="731520" cy="731520"/>
          </a:xfrm>
          <a:prstGeom prst="ellipse">
            <a:avLst/>
          </a:prstGeom>
          <a:solidFill>
            <a:srgbClr val="1C8C6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60120" y="20116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KY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2880360"/>
            <a:ext cx="21792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Kutay Yıldırım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3337560"/>
            <a:ext cx="21792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6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arayüzü · sunum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3459404" y="1783080"/>
            <a:ext cx="2545004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3E4D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88004" y="2011680"/>
            <a:ext cx="731520" cy="731520"/>
          </a:xfrm>
          <a:prstGeom prst="ellipse">
            <a:avLst/>
          </a:prstGeom>
          <a:solidFill>
            <a:srgbClr val="1C8C6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688004" y="20116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3642284" y="2880360"/>
            <a:ext cx="21792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Muratcan Ateş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3642284" y="3337560"/>
            <a:ext cx="21792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6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Mimari · API · Text-to-SQL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87288" y="1783080"/>
            <a:ext cx="2545004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3E4D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15888" y="2011680"/>
            <a:ext cx="731520" cy="731520"/>
          </a:xfrm>
          <a:prstGeom prst="ellipse">
            <a:avLst/>
          </a:prstGeom>
          <a:solidFill>
            <a:srgbClr val="1C8C6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415888" y="20116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ÖE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6370168" y="2880360"/>
            <a:ext cx="21792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Ömer Faruk Eskitürk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6370168" y="3337560"/>
            <a:ext cx="21792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6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Tedarik ajanı · Telegram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8915171" y="1783080"/>
            <a:ext cx="2545004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3E4D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3771" y="2011680"/>
            <a:ext cx="731520" cy="731520"/>
          </a:xfrm>
          <a:prstGeom prst="ellipse">
            <a:avLst/>
          </a:prstGeom>
          <a:solidFill>
            <a:srgbClr val="1C8C6E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143771" y="20116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YK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9098051" y="2880360"/>
            <a:ext cx="21792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Yiğit Yuşa Kartal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9098051" y="3337560"/>
            <a:ext cx="21792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6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 · analitik · sunum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731520" y="4343400"/>
            <a:ext cx="10728655" cy="960120"/>
          </a:xfrm>
          <a:prstGeom prst="roundRect">
            <a:avLst>
              <a:gd name="adj" fmla="val 11429"/>
            </a:avLst>
          </a:prstGeom>
          <a:solidFill>
            <a:srgbClr val="0F2A3C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1005840" y="4343400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günde uçtan uca   ·   185 otomatik test   ·   GitHub'da açık   ·   veri sentetik, demo canlı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731520" y="5532120"/>
            <a:ext cx="107286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C8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Karmaşıklık arkada, karar önünde.</a:t>
            </a:r>
            <a:endParaRPr lang="en-US" sz="2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OtoHesap — 14 Eylül 2026</dc:title>
  <dc:subject>PptxGenJS Presentation</dc:subject>
  <dc:creator>PptxGenJS</dc:creator>
  <cp:lastModifiedBy>PptxGenJS</cp:lastModifiedBy>
  <cp:revision>1</cp:revision>
  <dcterms:created xsi:type="dcterms:W3CDTF">2026-09-14T04:55:43Z</dcterms:created>
  <dcterms:modified xsi:type="dcterms:W3CDTF">2026-09-14T04:55:43Z</dcterms:modified>
</cp:coreProperties>
</file>