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0:00–0:20. Adı söyle, tek cümle: KOBİ için finans + stok; Türkçe soruyla veri; stok azalınca onaylı sipariş. Ekip isimleri.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0:20–0:50. 3,9 milyon KOBİ; girişimlerin %99,6'sı; istihdamın %68,5'i; cironun %44,1'i; %35'i ticarette. Günlük gerçek: Excel'de rapor, geç fark edilen stok, menülerde dolaşma.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0:50–1:20. Birincisi gelir-gider panosu: gelir, gider, fark, kritik ürün tek ekranda; her açılışta veriden hesaplanır. Sistem kendisi uyarıyor: iki ürün kritik stokta.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1:20–1:55. Solda bugünkü hâl, sağda OtoHesap. Türkçe soru; model yalnız sorguyu yazar, veritabanı yalnız okunur, rakam gerçek veriden: Powerbank lider. Sorgu isteyene tek tıkla görünür.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1:55–2:35. En sevdiğimiz kısım: stok azalınca ajan miktarı ve tutarı hesaplayıp taslağı hazırlar; kendi başına sipariş vermez. Onayla → mesaj tedarikçinin Telegram'ına düşer. Onaysız dış mesaj yok.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2:35–2:55. İş bölümü. Bir günde çalışan ürün, 185 test, kod açık. Sırada Trendyol sipariş akışı, e-belge, çok kiracılı sürüm. Teşekkürler.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7FD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 ADI</a:t>
            </a:r>
            <a:endParaRPr lang="en-US" sz="1400" dirty="0"/>
          </a:p>
        </p:txBody>
      </p:sp>
      <p:pic>
        <p:nvPicPr>
          <p:cNvPr id="3" name="Image 0" descr="/Users/muratates/code/Oto-Hesap/docs/img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00200"/>
            <a:ext cx="1554480" cy="15544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2560320" y="1325880"/>
            <a:ext cx="9144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OtoHesap</a:t>
            </a:r>
            <a:endParaRPr lang="en-US" sz="88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5204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7FD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KOBİ'ler için yapay zekâ destekli finans ve stok yönetimi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2519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Gelir-gider panosu · Türkçe soruyla veri · stok azalınca insan onaylı sipariş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731520" y="5212080"/>
            <a:ext cx="10728655" cy="0"/>
          </a:xfrm>
          <a:prstGeom prst="line">
            <a:avLst/>
          </a:prstGeom>
          <a:noFill/>
          <a:ln w="12700">
            <a:solidFill>
              <a:srgbClr val="2E4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539496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Kutay Yıldırım   ·   Muratcan Ateş   ·   Yiğit Yuşa Kartal   ·   Ömer Faruk Eskitürk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5897880"/>
            <a:ext cx="10728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Medeniyet Teknopark · TeknoKampüs Arena · 14 Eylül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2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1371600"/>
            <a:ext cx="1097280" cy="73152"/>
          </a:xfrm>
          <a:prstGeom prst="rect">
            <a:avLst/>
          </a:prstGeom>
          <a:solidFill>
            <a:srgbClr val="1C8C6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0" y="685800"/>
            <a:ext cx="5973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4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KOBİ ekonominin omurgası; veriye erişimi zayıf</a:t>
            </a:r>
            <a:endParaRPr lang="en-US" sz="1600" dirty="0"/>
          </a:p>
        </p:txBody>
      </p:sp>
      <p:pic>
        <p:nvPicPr>
          <p:cNvPr id="5" name="Image 0" descr="/Users/muratates/code/Oto-Hesap/docs/img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12703" y="6291072"/>
            <a:ext cx="347472" cy="3474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A0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OtoHesap · TeknoKampüs Arena · 14 Eylül 2026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31520" y="1783080"/>
            <a:ext cx="745236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2700">
            <a:solidFill>
              <a:srgbClr val="D3E4D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05840" y="19019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KOBİ'lerin Türkiye ekonomisindeki payı</a:t>
            </a:r>
            <a:endParaRPr lang="en-US" sz="1700" dirty="0"/>
          </a:p>
        </p:txBody>
      </p:sp>
      <p:pic>
        <p:nvPicPr>
          <p:cNvPr id="9" name="Image 1" descr="/Users/muratates/code/Oto-Hesap/docs/img/tuik-grafi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331720"/>
            <a:ext cx="6995160" cy="223113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005840" y="461772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Kaynak: TÜİK, Küçük ve Orta Büyüklükteki Girişim İstatistikleri, 2024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8412480" y="18288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3,9 milyon</a:t>
            </a:r>
            <a:endParaRPr lang="en-US" sz="4000" dirty="0"/>
          </a:p>
        </p:txBody>
      </p:sp>
      <p:sp>
        <p:nvSpPr>
          <p:cNvPr id="12" name="Text 8"/>
          <p:cNvSpPr txBox="1"/>
          <p:nvPr/>
        </p:nvSpPr>
        <p:spPr>
          <a:xfrm>
            <a:off x="8412480" y="26060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KOBİ</a:t>
            </a:r>
            <a:endParaRPr lang="en-US" sz="2600" dirty="0"/>
          </a:p>
        </p:txBody>
      </p:sp>
      <p:sp>
        <p:nvSpPr>
          <p:cNvPr id="13" name="Text 9"/>
          <p:cNvSpPr txBox="1"/>
          <p:nvPr/>
        </p:nvSpPr>
        <p:spPr>
          <a:xfrm>
            <a:off x="8412480" y="3200400"/>
            <a:ext cx="3063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Türkiye'deki girişimlerin %99,6'sı. Üçte biri ticaret sektöründe: her gün stok ve nakit kararı veriyor.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731520" y="5257800"/>
            <a:ext cx="3423818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3E4DD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960120" y="5477256"/>
            <a:ext cx="329184" cy="32918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1417320" y="5257800"/>
            <a:ext cx="26008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Raporu Excel'de kovalar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4383938" y="5257800"/>
            <a:ext cx="3423818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3E4DD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612538" y="5477256"/>
            <a:ext cx="329184" cy="32918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5069738" y="5257800"/>
            <a:ext cx="26008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Stok bitince geç fark eder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8036357" y="5257800"/>
            <a:ext cx="3423818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3E4DD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8264957" y="5477256"/>
            <a:ext cx="329184" cy="32918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8722157" y="5257800"/>
            <a:ext cx="26008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Bir cevap için menülerde dolaşır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2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Çözüm · 1/3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1371600"/>
            <a:ext cx="1097280" cy="73152"/>
          </a:xfrm>
          <a:prstGeom prst="rect">
            <a:avLst/>
          </a:prstGeom>
          <a:solidFill>
            <a:srgbClr val="1C8C6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0" y="685800"/>
            <a:ext cx="5973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4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Tek ekranda işletmenin nabzı</a:t>
            </a:r>
            <a:endParaRPr lang="en-US" sz="1600" dirty="0"/>
          </a:p>
        </p:txBody>
      </p:sp>
      <p:pic>
        <p:nvPicPr>
          <p:cNvPr id="5" name="Image 0" descr="/Users/muratates/code/Oto-Hesap/docs/img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12703" y="6291072"/>
            <a:ext cx="347472" cy="3474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A0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OtoHesap · TeknoKampüs Arena · 14 Eylül 2026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417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OTOHESAP · Genel Bakış</a:t>
            </a:r>
            <a:endParaRPr lang="en-US" sz="1300" dirty="0"/>
          </a:p>
        </p:txBody>
      </p:sp>
      <p:pic>
        <p:nvPicPr>
          <p:cNvPr id="8" name="Image 1" descr="/Users/muratates/code/Oto-Hesap/docs/img/genel-baki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31520" y="1783080"/>
            <a:ext cx="6949440" cy="43434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31520" y="1783080"/>
            <a:ext cx="6949440" cy="4343400"/>
          </a:xfrm>
          <a:prstGeom prst="rect">
            <a:avLst/>
          </a:prstGeom>
          <a:ln w="12700">
            <a:solidFill>
              <a:srgbClr val="D3E4DD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8001000" y="1783080"/>
            <a:ext cx="3459175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3E4DD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229600" y="1920240"/>
            <a:ext cx="3001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Gelir · gider · fark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8229600" y="2331720"/>
            <a:ext cx="3001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 açılışta veriden hesaplanır; dönem seçilir (ay, çeyrek, yarıyıl).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8001000" y="3264408"/>
            <a:ext cx="3459175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3E4DD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229600" y="3401568"/>
            <a:ext cx="3001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Kritik ürün: 2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8229600" y="3813048"/>
            <a:ext cx="3001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 kendisi uyarır; stok bitmeden görürsünüz.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8001000" y="4745736"/>
            <a:ext cx="3459175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3E4DD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229600" y="4882896"/>
            <a:ext cx="3001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Aylık trend</a:t>
            </a:r>
            <a:endParaRPr lang="en-US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8229600" y="5294376"/>
            <a:ext cx="3001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Gelir ve gider grafiği; reklam gideri arttı uyarısı.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2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Çözüm · 2/3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1371600"/>
            <a:ext cx="1097280" cy="73152"/>
          </a:xfrm>
          <a:prstGeom prst="rect">
            <a:avLst/>
          </a:prstGeom>
          <a:solidFill>
            <a:srgbClr val="1C8C6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0" y="685800"/>
            <a:ext cx="5973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4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Türkçe sor, cevabı gör</a:t>
            </a:r>
            <a:endParaRPr lang="en-US" sz="1600" dirty="0"/>
          </a:p>
        </p:txBody>
      </p:sp>
      <p:pic>
        <p:nvPicPr>
          <p:cNvPr id="5" name="Image 0" descr="/Users/muratates/code/Oto-Hesap/docs/img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12703" y="6291072"/>
            <a:ext cx="347472" cy="3474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A0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OtoHesap · TeknoKampüs Arena · 14 Eylül 2026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41732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BUGÜN · Excel</a:t>
            </a:r>
            <a:endParaRPr lang="en-US" sz="1300" dirty="0"/>
          </a:p>
        </p:txBody>
      </p:sp>
      <p:pic>
        <p:nvPicPr>
          <p:cNvPr id="8" name="Image 1" descr="/Users/muratates/code/Oto-Hesap/docs/img/excel-karmas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31520" y="1783080"/>
            <a:ext cx="5074920" cy="317296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31520" y="1783080"/>
            <a:ext cx="5074920" cy="3172968"/>
          </a:xfrm>
          <a:prstGeom prst="rect">
            <a:avLst/>
          </a:prstGeom>
          <a:ln w="12700">
            <a:solidFill>
              <a:srgbClr val="D3E4DD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385255" y="141732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OTOHESAP · "En çok kazancım hangi üründen?"</a:t>
            </a:r>
            <a:endParaRPr lang="en-US" sz="1300" dirty="0"/>
          </a:p>
        </p:txBody>
      </p:sp>
      <p:pic>
        <p:nvPicPr>
          <p:cNvPr id="11" name="Image 2" descr="/Users/muratates/code/Oto-Hesap/docs/img/asistan-sad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385255" y="1783080"/>
            <a:ext cx="5074920" cy="317296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385255" y="1783080"/>
            <a:ext cx="5074920" cy="3172968"/>
          </a:xfrm>
          <a:prstGeom prst="rect">
            <a:avLst/>
          </a:prstGeom>
          <a:ln w="12700">
            <a:solidFill>
              <a:srgbClr val="D3E4DD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5760720" y="3017520"/>
            <a:ext cx="685800" cy="685800"/>
          </a:xfrm>
          <a:prstGeom prst="ellipse">
            <a:avLst/>
          </a:prstGeom>
          <a:solidFill>
            <a:srgbClr val="1C8C6E"/>
          </a:solidFill>
          <a:ln/>
        </p:spPr>
      </p:sp>
      <p:sp>
        <p:nvSpPr>
          <p:cNvPr id="14" name="Text 9"/>
          <p:cNvSpPr txBox="1"/>
          <p:nvPr/>
        </p:nvSpPr>
        <p:spPr>
          <a:xfrm>
            <a:off x="5760720" y="30175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➜</a:t>
            </a:r>
            <a:endParaRPr lang="en-US" sz="2600" dirty="0"/>
          </a:p>
        </p:txBody>
      </p:sp>
      <p:sp>
        <p:nvSpPr>
          <p:cNvPr id="15" name="Shape 10"/>
          <p:cNvSpPr/>
          <p:nvPr/>
        </p:nvSpPr>
        <p:spPr>
          <a:xfrm>
            <a:off x="731520" y="5212080"/>
            <a:ext cx="2545004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3E4DD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41248" y="5212080"/>
            <a:ext cx="23255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yalnızca sorguyu yazar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3459404" y="5212080"/>
            <a:ext cx="2545004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3E4DD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3569132" y="5212080"/>
            <a:ext cx="23255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Sorgu filtreden geçer: yalnız okuma, beyaz liste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187288" y="5212080"/>
            <a:ext cx="2545004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3E4DD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297016" y="5212080"/>
            <a:ext cx="23255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Veritabanı yalnız okunur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8915171" y="5212080"/>
            <a:ext cx="2545004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3E4DD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9024899" y="5212080"/>
            <a:ext cx="23255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Rakam gerçek veriden gelir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731520" y="5943600"/>
            <a:ext cx="10728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Filtreyi geçmeyen sorgu çalışmaz; yanlış cevap yerine açık uyarı. Sorgu isteyene tek tıkla görünür, varsayılan gizli.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2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Çözüm · 3/3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1371600"/>
            <a:ext cx="1097280" cy="73152"/>
          </a:xfrm>
          <a:prstGeom prst="rect">
            <a:avLst/>
          </a:prstGeom>
          <a:solidFill>
            <a:srgbClr val="1C8C6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0" y="685800"/>
            <a:ext cx="5973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4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Stok azalınca otomatik sipariş · onay insanda</a:t>
            </a:r>
            <a:endParaRPr lang="en-US" sz="1600" dirty="0"/>
          </a:p>
        </p:txBody>
      </p:sp>
      <p:pic>
        <p:nvPicPr>
          <p:cNvPr id="5" name="Image 0" descr="/Users/muratates/code/Oto-Hesap/docs/img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12703" y="6291072"/>
            <a:ext cx="347472" cy="3474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A0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OtoHesap · TeknoKampüs Arena · 14 Eylül 2026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31520" y="1737360"/>
            <a:ext cx="2373554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3E4D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1737360"/>
            <a:ext cx="209923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Stok kritik seviyeye iner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105074" y="1737360"/>
            <a:ext cx="411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➜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3516554" y="1737360"/>
            <a:ext cx="2373554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3E4D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53714" y="1737360"/>
            <a:ext cx="209923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Ajan sipariş taslağını hazırlar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890108" y="1737360"/>
            <a:ext cx="411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➜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6301588" y="1737360"/>
            <a:ext cx="2373554" cy="685800"/>
          </a:xfrm>
          <a:prstGeom prst="roundRect">
            <a:avLst>
              <a:gd name="adj" fmla="val 16000"/>
            </a:avLst>
          </a:prstGeom>
          <a:solidFill>
            <a:srgbClr val="0F2A3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38748" y="1737360"/>
            <a:ext cx="209923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İşletme sahibi onaylar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675141" y="1737360"/>
            <a:ext cx="411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➜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9086621" y="1737360"/>
            <a:ext cx="2373554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3E4D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223781" y="1737360"/>
            <a:ext cx="209923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Tedarikçiye Telegram mesajı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26517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STOK · kritik ürünler</a:t>
            </a:r>
            <a:endParaRPr lang="en-US" sz="1300" dirty="0"/>
          </a:p>
        </p:txBody>
      </p:sp>
      <p:pic>
        <p:nvPicPr>
          <p:cNvPr id="19" name="Image 1" descr="/Users/muratates/code/Oto-Hesap/docs/img/stok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31520" y="3017520"/>
            <a:ext cx="4389120" cy="27889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731520" y="3017520"/>
            <a:ext cx="4389120" cy="2788920"/>
          </a:xfrm>
          <a:prstGeom prst="rect">
            <a:avLst/>
          </a:prstGeom>
          <a:ln w="12700">
            <a:solidFill>
              <a:srgbClr val="D3E4DD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303520" y="26517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TEDARİK · taslak → Onayla → Gönderildi</a:t>
            </a:r>
            <a:endParaRPr lang="en-US" sz="1300" dirty="0"/>
          </a:p>
        </p:txBody>
      </p:sp>
      <p:pic>
        <p:nvPicPr>
          <p:cNvPr id="22" name="Image 2" descr="/Users/muratates/code/Oto-Hesap/docs/img/tedarik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303520" y="3017520"/>
            <a:ext cx="4389120" cy="2788920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5303520" y="3017520"/>
            <a:ext cx="4389120" cy="2788920"/>
          </a:xfrm>
          <a:prstGeom prst="rect">
            <a:avLst/>
          </a:prstGeom>
          <a:ln w="12700">
            <a:solidFill>
              <a:srgbClr val="D3E4DD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9875520" y="2651760"/>
            <a:ext cx="1584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TELEGRAM · tedarikçi</a:t>
            </a:r>
            <a:endParaRPr 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9875520" y="3017520"/>
            <a:ext cx="1584655" cy="2788920"/>
          </a:xfrm>
          <a:prstGeom prst="roundRect">
            <a:avLst>
              <a:gd name="adj" fmla="val 6924"/>
            </a:avLst>
          </a:prstGeom>
          <a:solidFill>
            <a:srgbClr val="0F2A3C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10012680" y="3200400"/>
            <a:ext cx="1310335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Onaydan sonra sipariş mesajı tedarikçinin Telegram'ına düşer.</a:t>
            </a:r>
            <a:endParaRPr lang="en-US" sz="1250" dirty="0"/>
          </a:p>
          <a:p>
            <a:pPr algn="ctr" indent="0" marL="0">
              <a:buNone/>
            </a:pP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Gerçek gönderim doğrulandı: 13 Eylül 23:09.</a:t>
            </a:r>
            <a:endParaRPr lang="en-US" sz="1250" dirty="0"/>
          </a:p>
        </p:txBody>
      </p:sp>
      <p:sp>
        <p:nvSpPr>
          <p:cNvPr id="27" name="Text 22"/>
          <p:cNvSpPr txBox="1"/>
          <p:nvPr/>
        </p:nvSpPr>
        <p:spPr>
          <a:xfrm>
            <a:off x="731520" y="5943600"/>
            <a:ext cx="10728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Onaysız tek bir dış mesaj yok · ürün başına tek açık sipariş · gönderildi ≠ teslim alındı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2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Ekip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1371600"/>
            <a:ext cx="1097280" cy="73152"/>
          </a:xfrm>
          <a:prstGeom prst="rect">
            <a:avLst/>
          </a:prstGeom>
          <a:solidFill>
            <a:srgbClr val="1C8C6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0" y="685800"/>
            <a:ext cx="5973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4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kişi · 1 gün · uçtan uca çalışan ürün</a:t>
            </a:r>
            <a:endParaRPr lang="en-US" sz="1600" dirty="0"/>
          </a:p>
        </p:txBody>
      </p:sp>
      <p:pic>
        <p:nvPicPr>
          <p:cNvPr id="5" name="Image 0" descr="/Users/muratates/code/Oto-Hesap/docs/img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12703" y="6291072"/>
            <a:ext cx="347472" cy="3474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A0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OtoHesap · TeknoKampüs Arena · 14 Eylül 2026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31520" y="1783080"/>
            <a:ext cx="2545004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E4D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60120" y="2011680"/>
            <a:ext cx="731520" cy="731520"/>
          </a:xfrm>
          <a:prstGeom prst="ellipse">
            <a:avLst/>
          </a:prstGeom>
          <a:solidFill>
            <a:srgbClr val="1C8C6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60120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KY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2880360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Kutay Yıldırım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3337560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arayüzü · sunum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3459404" y="1783080"/>
            <a:ext cx="2545004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E4D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688004" y="2011680"/>
            <a:ext cx="731520" cy="731520"/>
          </a:xfrm>
          <a:prstGeom prst="ellipse">
            <a:avLst/>
          </a:prstGeom>
          <a:solidFill>
            <a:srgbClr val="1C8C6E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8800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3642284" y="2880360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Muratcan Ateş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642284" y="3337560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Mimari · API · Text-to-SQL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6187288" y="1783080"/>
            <a:ext cx="2545004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E4D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415888" y="2011680"/>
            <a:ext cx="731520" cy="731520"/>
          </a:xfrm>
          <a:prstGeom prst="ellipse">
            <a:avLst/>
          </a:prstGeom>
          <a:solidFill>
            <a:srgbClr val="1C8C6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415888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ÖE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6370168" y="2880360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Ömer Faruk Eskitürk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370168" y="3337560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Tedarik ajanı · Telegram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915171" y="1783080"/>
            <a:ext cx="2545004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E4D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143771" y="2011680"/>
            <a:ext cx="731520" cy="731520"/>
          </a:xfrm>
          <a:prstGeom prst="ellipse">
            <a:avLst/>
          </a:prstGeom>
          <a:solidFill>
            <a:srgbClr val="1C8C6E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9143771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YK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9098051" y="2880360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Yiğit Yuşa Kartal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9098051" y="3337560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 · analitik · sunum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731520" y="4343400"/>
            <a:ext cx="10728655" cy="960120"/>
          </a:xfrm>
          <a:prstGeom prst="roundRect">
            <a:avLst>
              <a:gd name="adj" fmla="val 11429"/>
            </a:avLst>
          </a:prstGeom>
          <a:solidFill>
            <a:srgbClr val="0F2A3C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1005840" y="4343400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günde uçtan uca   ·   185 otomatik test   ·   kod GitHub'da açık   ·   veri sentetik, sistem çalışır durumda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731520" y="548640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Sırada: Trendyol sipariş akışı · e-belge · çok kiracılı sürüm</a:t>
            </a:r>
            <a:endParaRPr lang="en-US" sz="2000" dirty="0"/>
          </a:p>
        </p:txBody>
      </p:sp>
      <p:sp>
        <p:nvSpPr>
          <p:cNvPr id="30" name="Text 27"/>
          <p:cNvSpPr txBox="1"/>
          <p:nvPr/>
        </p:nvSpPr>
        <p:spPr>
          <a:xfrm>
            <a:off x="731520" y="5943600"/>
            <a:ext cx="10728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github.com/muratcan-ates/Oto-Hesap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OtoHesap — 14 Eylül 2026</dc:title>
  <dc:subject>PptxGenJS Presentation</dc:subject>
  <dc:creator>PptxGenJS</dc:creator>
  <cp:lastModifiedBy>PptxGenJS</cp:lastModifiedBy>
  <cp:revision>1</cp:revision>
  <dcterms:created xsi:type="dcterms:W3CDTF">2026-09-14T05:18:14Z</dcterms:created>
  <dcterms:modified xsi:type="dcterms:W3CDTF">2026-09-14T05:18:14Z</dcterms:modified>
</cp:coreProperties>
</file>